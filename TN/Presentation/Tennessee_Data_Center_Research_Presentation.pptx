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ennessee_data_center_infrastructure_research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2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15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14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12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11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5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1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hyperlink" Target="https://chris-jin02.github.io/DataCenter/Config/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3924300"/>
            <a:ext cx="12192000" cy="1981200"/>
          </a:xfrm>
          <a:custGeom>
            <a:avLst/>
            <a:gdLst/>
            <a:ahLst/>
            <a:cxnLst/>
            <a:rect l="l" t="t" r="r" b="b"/>
            <a:pathLst>
              <a:path w="12192000" h="1981200">
                <a:moveTo>
                  <a:pt x="0" y="1438275"/>
                </a:moveTo>
                <a:cubicBezTo>
                  <a:pt x="2190750" y="504825"/>
                  <a:pt x="3629025" y="1981200"/>
                  <a:pt x="5762625" y="990600"/>
                </a:cubicBezTo>
                <a:cubicBezTo>
                  <a:pt x="7896225" y="0"/>
                  <a:pt x="9296400" y="381000"/>
                  <a:pt x="12192000" y="1409700"/>
                </a:cubicBezTo>
              </a:path>
            </a:pathLst>
          </a:custGeom>
          <a:noFill/>
          <a:ln w="19050">
            <a:solidFill>
              <a:schemeClr val="accent1">
                <a:alpha val="45000"/>
              </a:schemeClr>
            </a:solidFill>
          </a:ln>
        </p:spPr>
      </p:sp>
      <p:sp>
        <p:nvSpPr>
          <p:cNvPr id="3" name="Freeform 3"/>
          <p:cNvSpPr/>
          <p:nvPr/>
        </p:nvSpPr>
        <p:spPr>
          <a:xfrm>
            <a:off x="0" y="4257675"/>
            <a:ext cx="12192000" cy="2019300"/>
          </a:xfrm>
          <a:custGeom>
            <a:avLst/>
            <a:gdLst/>
            <a:ahLst/>
            <a:cxnLst/>
            <a:rect l="l" t="t" r="r" b="b"/>
            <a:pathLst>
              <a:path w="12192000" h="2019300">
                <a:moveTo>
                  <a:pt x="0" y="1476375"/>
                </a:moveTo>
                <a:cubicBezTo>
                  <a:pt x="2095500" y="533400"/>
                  <a:pt x="3667125" y="2019300"/>
                  <a:pt x="5762625" y="1009650"/>
                </a:cubicBezTo>
                <a:cubicBezTo>
                  <a:pt x="7858125" y="0"/>
                  <a:pt x="9429750" y="409575"/>
                  <a:pt x="12192000" y="1438275"/>
                </a:cubicBezTo>
              </a:path>
            </a:pathLst>
          </a:custGeom>
          <a:noFill/>
          <a:ln w="9525">
            <a:solidFill>
              <a:schemeClr val="accent1">
                <a:alpha val="25000"/>
              </a:schemeClr>
            </a:solidFill>
          </a:ln>
        </p:spPr>
      </p:sp>
      <p:sp>
        <p:nvSpPr>
          <p:cNvPr id="4" name="Rectangle 4"/>
          <p:cNvSpPr/>
          <p:nvPr/>
        </p:nvSpPr>
        <p:spPr>
          <a:xfrm>
            <a:off x="609600" y="876300"/>
            <a:ext cx="76200" cy="388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07542" y="1292542"/>
            <a:ext cx="505754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spc="225" dirty="0">
                <a:solidFill>
                  <a:srgbClr val="8FDCDD"/>
                </a:solidFill>
                <a:latin typeface="+mn-lt"/>
                <a:ea typeface="+mn-ea"/>
                <a:cs typeface="+mn-cs"/>
              </a:rPr>
              <a:t>TENNESSEE DATA CENTER RESEARCH PROJECT</a:t>
            </a:r>
            <a:endParaRPr lang="en-US" sz="1350" spc="225" dirty="0">
              <a:solidFill>
                <a:srgbClr val="8FDCDD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895350" y="1971675"/>
            <a:ext cx="6075045" cy="692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4500" b="1" spc="100" dirty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</a:rPr>
              <a:t>Tennessee Data Center</a:t>
            </a:r>
            <a:endParaRPr lang="en-US" sz="4500" b="1" spc="100" dirty="0">
              <a:solidFill>
                <a:srgbClr val="FFFFFF"/>
              </a:solidFill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895350" y="2657475"/>
            <a:ext cx="4906010" cy="692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4500" b="1" spc="100" dirty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</a:rPr>
              <a:t>Infrastructure and</a:t>
            </a:r>
            <a:endParaRPr lang="en-US" sz="4500" b="1" spc="100" dirty="0">
              <a:solidFill>
                <a:srgbClr val="FFFFFF"/>
              </a:solidFill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895350" y="3343275"/>
            <a:ext cx="5794375" cy="692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4500" b="1" spc="100" dirty="0">
                <a:solidFill>
                  <a:srgbClr val="FFFFFF"/>
                </a:solidFill>
                <a:uFillTx/>
                <a:latin typeface="+mj-lt"/>
                <a:ea typeface="+mj-ea"/>
                <a:cs typeface="+mj-cs"/>
              </a:rPr>
              <a:t>Community Tradeoffs</a:t>
            </a:r>
            <a:endParaRPr lang="en-US" sz="4500" b="1" spc="100" dirty="0">
              <a:solidFill>
                <a:srgbClr val="FFFFFF"/>
              </a:solidFill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924306" y="4234815"/>
            <a:ext cx="1014340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dirty="0">
                <a:solidFill>
                  <a:srgbClr val="C9D6DF"/>
                </a:solidFill>
                <a:latin typeface="+mn-lt"/>
                <a:ea typeface="+mn-ea"/>
                <a:cs typeface="+mn-cs"/>
              </a:rPr>
              <a:t>A site-level evidence foundation for energy, water, land use, and community context</a:t>
            </a:r>
            <a:endParaRPr lang="en-US" sz="1800" dirty="0">
              <a:solidFill>
                <a:srgbClr val="C9D6D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908304" y="6023610"/>
            <a:ext cx="500900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C9D6DF"/>
                </a:solidFill>
                <a:latin typeface="+mn-lt"/>
                <a:ea typeface="+mn-ea"/>
                <a:cs typeface="+mn-cs"/>
              </a:rPr>
              <a:t>University of Tennessee, Knoxville • Research project overview</a:t>
            </a:r>
            <a:endParaRPr lang="en-US" sz="1200" dirty="0">
              <a:solidFill>
                <a:srgbClr val="C9D6DF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1233404" y="6023610"/>
            <a:ext cx="189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8FDCDD"/>
                </a:solidFill>
                <a:latin typeface="+mn-lt"/>
                <a:ea typeface="+mn-ea"/>
                <a:cs typeface="+mn-cs"/>
              </a:rPr>
              <a:t>01</a:t>
            </a:r>
            <a:endParaRPr lang="en-US" sz="1200" dirty="0">
              <a:solidFill>
                <a:srgbClr val="8FDCDD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90550"/>
            <a:ext cx="10580263" cy="1029748"/>
            <a:chOff x="595122" y="590550"/>
            <a:chExt cx="10580263" cy="1029748"/>
          </a:xfrm>
        </p:grpSpPr>
        <p:sp>
          <p:nvSpPr>
            <p:cNvPr id="2" name="Rectangle 2"/>
            <p:cNvSpPr/>
            <p:nvPr/>
          </p:nvSpPr>
          <p:spPr>
            <a:xfrm>
              <a:off x="609600" y="590550"/>
              <a:ext cx="723900" cy="666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5122" y="873442"/>
              <a:ext cx="881976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8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Why Tennessee Needs Site-Level Evidence</a:t>
              </a:r>
              <a:endParaRPr lang="en-US" sz="285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02361" y="1341596"/>
              <a:ext cx="105730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chemeClr val="accent6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Facility growth becomes a research problem when infrastructure and nearby communities enter the same frame.</a:t>
              </a:r>
              <a:endParaRPr lang="en-US" sz="1420" dirty="0">
                <a:solidFill>
                  <a:schemeClr val="accent6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43000" y="2657475"/>
            <a:ext cx="10245102" cy="1432750"/>
            <a:chOff x="1143000" y="2657475"/>
            <a:chExt cx="10245102" cy="1432750"/>
          </a:xfrm>
        </p:grpSpPr>
        <p:sp>
          <p:nvSpPr>
            <p:cNvPr id="6" name="Freeform 6"/>
            <p:cNvSpPr/>
            <p:nvPr/>
          </p:nvSpPr>
          <p:spPr>
            <a:xfrm>
              <a:off x="1143000" y="2952750"/>
              <a:ext cx="9906000" cy="9525"/>
            </a:xfrm>
            <a:custGeom>
              <a:avLst/>
              <a:gdLst/>
              <a:ahLst/>
              <a:cxnLst/>
              <a:rect l="l" t="t" r="r" b="b"/>
              <a:pathLst>
                <a:path w="9906000" h="9525">
                  <a:moveTo>
                    <a:pt x="0" y="0"/>
                  </a:moveTo>
                  <a:lnTo>
                    <a:pt x="99060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C9D6DF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1657350" y="2657475"/>
              <a:ext cx="590550" cy="5905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4324350" y="2657475"/>
              <a:ext cx="590550" cy="5905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6991350" y="2657475"/>
              <a:ext cx="590550" cy="5905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9658350" y="2657475"/>
              <a:ext cx="590550" cy="5905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848231" y="2844165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1</a:t>
              </a:r>
              <a:endParaRPr lang="en-US" sz="1800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515231" y="2844165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2</a:t>
              </a:r>
              <a:endParaRPr lang="en-US" sz="1800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182231" y="2844165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3</a:t>
              </a:r>
              <a:endParaRPr lang="en-US" sz="1800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849231" y="2844165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4</a:t>
              </a:r>
              <a:endParaRPr lang="en-US" sz="1800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371981" y="3472815"/>
              <a:ext cx="183327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dk1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Energy demand</a:t>
              </a:r>
              <a:endParaRPr lang="en-US" sz="1800" b="1" dirty="0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355217" y="3826192"/>
              <a:ext cx="22824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6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Grid load and peak demand</a:t>
              </a:r>
              <a:endParaRPr lang="en-US" sz="1350" dirty="0">
                <a:solidFill>
                  <a:schemeClr val="accent6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000881" y="3472815"/>
              <a:ext cx="12738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dk1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Water use</a:t>
              </a:r>
              <a:endParaRPr lang="en-US" sz="1800" b="1" dirty="0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812667" y="3826192"/>
              <a:ext cx="29184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6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Resource and watershed context</a:t>
              </a:r>
              <a:endParaRPr lang="en-US" sz="1350" dirty="0">
                <a:solidFill>
                  <a:schemeClr val="accent6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534531" y="3472815"/>
              <a:ext cx="179493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dk1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Land and noise</a:t>
              </a:r>
              <a:endParaRPr lang="en-US" sz="1800" b="1" dirty="0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489192" y="3826192"/>
              <a:ext cx="25633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6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Siting and local externalities</a:t>
              </a:r>
              <a:endParaRPr lang="en-US" sz="1350" dirty="0">
                <a:solidFill>
                  <a:schemeClr val="accent6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077706" y="3472815"/>
              <a:ext cx="15399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dk1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Communities</a:t>
              </a:r>
              <a:endParaRPr lang="en-US" sz="1800" b="1" dirty="0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851392" y="3826192"/>
              <a:ext cx="25367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6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Nearby receptors and equity</a:t>
              </a:r>
              <a:endParaRPr lang="en-US" sz="1350" dirty="0">
                <a:solidFill>
                  <a:schemeClr val="accent6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03885" y="5105400"/>
            <a:ext cx="10978515" cy="1451134"/>
            <a:chOff x="603885" y="5105400"/>
            <a:chExt cx="10978515" cy="1451134"/>
          </a:xfrm>
        </p:grpSpPr>
        <p:sp>
          <p:nvSpPr>
            <p:cNvPr id="24" name="Rectangle 24"/>
            <p:cNvSpPr/>
            <p:nvPr/>
          </p:nvSpPr>
          <p:spPr>
            <a:xfrm>
              <a:off x="609600" y="5105400"/>
              <a:ext cx="10972800" cy="876300"/>
            </a:xfrm>
            <a:prstGeom prst="roundRect">
              <a:avLst>
                <a:gd name="adj" fmla="val 13043"/>
              </a:avLst>
            </a:prstGeom>
            <a:solidFill>
              <a:srgbClr val="E3F3F3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68680" y="5362575"/>
              <a:ext cx="998720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The evidence must be geographically specific: a statewide total cannot answer a site-level question.</a:t>
              </a:r>
              <a:endParaRPr lang="en-US" sz="1500" dirty="0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03885" y="6336506"/>
              <a:ext cx="11106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accent6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RESEARCH NEED</a:t>
              </a:r>
              <a:endParaRPr lang="en-US" sz="1120" dirty="0">
                <a:solidFill>
                  <a:schemeClr val="accent6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233785" y="633650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accent6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02</a:t>
              </a:r>
              <a:endParaRPr lang="en-US" sz="1120" dirty="0">
                <a:solidFill>
                  <a:schemeClr val="accent6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95122" y="880110"/>
            <a:ext cx="11044147" cy="950785"/>
            <a:chOff x="595122" y="880110"/>
            <a:chExt cx="11044147" cy="950785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880110"/>
              <a:ext cx="14481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spc="225" dirty="0">
                  <a:solidFill>
                    <a:srgbClr val="8FDCDD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RESEARCH GAP</a:t>
              </a:r>
              <a:endParaRPr lang="en-US" sz="1200" spc="225" dirty="0">
                <a:solidFill>
                  <a:srgbClr val="8FDCDD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1273492"/>
              <a:ext cx="11044147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8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Separate records do not yet make decision evidence.</a:t>
              </a:r>
              <a:endParaRPr lang="en-US" sz="2850" b="1" dirty="0">
                <a:solidFill>
                  <a:srgbClr val="FFFFFF"/>
                </a:solidFill>
                <a:latin typeface="+mj-lt"/>
                <a:ea typeface="+mj-ea"/>
                <a:cs typeface="+mj-cs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09600" y="2457450"/>
            <a:ext cx="11070639" cy="2095500"/>
            <a:chOff x="609600" y="2457450"/>
            <a:chExt cx="11070639" cy="2095500"/>
          </a:xfrm>
        </p:grpSpPr>
        <p:sp>
          <p:nvSpPr>
            <p:cNvPr id="5" name="Rectangle 5"/>
            <p:cNvSpPr/>
            <p:nvPr/>
          </p:nvSpPr>
          <p:spPr>
            <a:xfrm>
              <a:off x="609600" y="2457450"/>
              <a:ext cx="2343150" cy="2095500"/>
            </a:xfrm>
            <a:prstGeom prst="roundRect">
              <a:avLst>
                <a:gd name="adj" fmla="val 5455"/>
              </a:avLst>
            </a:prstGeom>
            <a:solidFill>
              <a:srgbClr val="12334B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3409950" y="2457450"/>
              <a:ext cx="2343150" cy="2095500"/>
            </a:xfrm>
            <a:prstGeom prst="roundRect">
              <a:avLst>
                <a:gd name="adj" fmla="val 5455"/>
              </a:avLst>
            </a:prstGeom>
            <a:solidFill>
              <a:srgbClr val="12334B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210300" y="2457450"/>
              <a:ext cx="2343150" cy="2095500"/>
            </a:xfrm>
            <a:prstGeom prst="roundRect">
              <a:avLst>
                <a:gd name="adj" fmla="val 5455"/>
              </a:avLst>
            </a:prstGeom>
            <a:solidFill>
              <a:srgbClr val="12334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9010650" y="2457450"/>
              <a:ext cx="2571750" cy="2095500"/>
            </a:xfrm>
            <a:prstGeom prst="roundRect">
              <a:avLst>
                <a:gd name="adj" fmla="val 5455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2952750" y="3505200"/>
              <a:ext cx="5924550" cy="9525"/>
            </a:xfrm>
            <a:custGeom>
              <a:avLst/>
              <a:gdLst/>
              <a:ahLst/>
              <a:cxnLst/>
              <a:rect l="l" t="t" r="r" b="b"/>
              <a:pathLst>
                <a:path w="5924550" h="9525">
                  <a:moveTo>
                    <a:pt x="0" y="0"/>
                  </a:moveTo>
                  <a:lnTo>
                    <a:pt x="323850" y="0"/>
                  </a:lnTo>
                  <a:moveTo>
                    <a:pt x="2800350" y="0"/>
                  </a:moveTo>
                  <a:lnTo>
                    <a:pt x="3124200" y="0"/>
                  </a:lnTo>
                  <a:moveTo>
                    <a:pt x="5600700" y="0"/>
                  </a:moveTo>
                  <a:lnTo>
                    <a:pt x="5924550" y="0"/>
                  </a:lnTo>
                </a:path>
              </a:pathLst>
            </a:custGeom>
            <a:solidFill>
              <a:srgbClr val="000000"/>
            </a:solidFill>
            <a:ln w="47625">
              <a:solidFill>
                <a:schemeClr val="accent2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6013" y="2915126"/>
              <a:ext cx="1070129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020" b="1" dirty="0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Facility</a:t>
              </a:r>
              <a:endParaRPr lang="en-US" sz="2020" b="1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69442" y="3349942"/>
              <a:ext cx="16285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C9D6DF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Location, status,</a:t>
              </a:r>
              <a:endParaRPr lang="en-US" sz="1350" dirty="0">
                <a:solidFill>
                  <a:srgbClr val="C9D6DF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69442" y="3597592"/>
              <a:ext cx="17220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C9D6DF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operator, capacity</a:t>
              </a:r>
              <a:endParaRPr lang="en-US" sz="1350" dirty="0">
                <a:solidFill>
                  <a:srgbClr val="C9D6DF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666363" y="2915126"/>
              <a:ext cx="215636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020" b="1" dirty="0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Infrastructure</a:t>
              </a:r>
              <a:endParaRPr lang="en-US" sz="2020" b="1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669792" y="3349942"/>
              <a:ext cx="21019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C9D6DF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Power, water, access,</a:t>
              </a:r>
              <a:endParaRPr lang="en-US" sz="1350" dirty="0">
                <a:solidFill>
                  <a:srgbClr val="C9D6DF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669792" y="3597592"/>
              <a:ext cx="17311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C9D6DF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availability domains</a:t>
              </a:r>
              <a:endParaRPr lang="en-US" sz="1350" dirty="0">
                <a:solidFill>
                  <a:srgbClr val="C9D6DF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466713" y="2915126"/>
              <a:ext cx="1442832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020" b="1" dirty="0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Receptors</a:t>
              </a:r>
              <a:endParaRPr lang="en-US" sz="2020" b="1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470142" y="3349942"/>
              <a:ext cx="20646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C9D6DF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Communities, land use,</a:t>
              </a:r>
              <a:endParaRPr lang="en-US" sz="1350" dirty="0">
                <a:solidFill>
                  <a:srgbClr val="C9D6DF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470142" y="3597592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C9D6DF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environmental context</a:t>
              </a:r>
              <a:endParaRPr lang="en-US" sz="1350" dirty="0">
                <a:solidFill>
                  <a:srgbClr val="C9D6DF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267063" y="2915126"/>
              <a:ext cx="241317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020" b="1" dirty="0">
                  <a:solidFill>
                    <a:srgbClr val="071B2E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Decision evidence</a:t>
              </a:r>
              <a:endParaRPr lang="en-US" sz="2020" b="1" dirty="0">
                <a:solidFill>
                  <a:srgbClr val="071B2E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270492" y="3349942"/>
              <a:ext cx="14909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071B2E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Validated spatial</a:t>
              </a:r>
              <a:endParaRPr lang="en-US" sz="1350" dirty="0">
                <a:solidFill>
                  <a:srgbClr val="071B2E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270492" y="3597592"/>
              <a:ext cx="20309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071B2E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associations and limits</a:t>
              </a:r>
              <a:endParaRPr lang="en-US" sz="1350" dirty="0">
                <a:solidFill>
                  <a:srgbClr val="071B2E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601599" y="5544979"/>
            <a:ext cx="8871166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80" dirty="0">
                <a:solidFill>
                  <a:srgbClr val="C9D6D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The project supplies the missing analytical connection — without presuming causality.</a:t>
            </a:r>
            <a:endParaRPr lang="en-US" sz="1580" dirty="0">
              <a:solidFill>
                <a:srgbClr val="C9D6D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603885" y="6336506"/>
            <a:ext cx="111066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8FDCDD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RESEARCH NEED</a:t>
            </a:r>
            <a:endParaRPr lang="en-US" sz="1120" dirty="0">
              <a:solidFill>
                <a:srgbClr val="8FDCDD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1233785" y="6336506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8FDCDD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03</a:t>
            </a:r>
            <a:endParaRPr lang="en-US" sz="1120" dirty="0">
              <a:solidFill>
                <a:srgbClr val="8FDCDD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90550"/>
            <a:ext cx="10746337" cy="1071468"/>
            <a:chOff x="595122" y="590550"/>
            <a:chExt cx="10746337" cy="1071468"/>
          </a:xfrm>
        </p:grpSpPr>
        <p:sp>
          <p:nvSpPr>
            <p:cNvPr id="2" name="Rectangle 2"/>
            <p:cNvSpPr/>
            <p:nvPr/>
          </p:nvSpPr>
          <p:spPr>
            <a:xfrm>
              <a:off x="609600" y="590550"/>
              <a:ext cx="723900" cy="666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5122" y="873442"/>
              <a:ext cx="410914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8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Research Objective</a:t>
              </a:r>
              <a:endParaRPr lang="en-US" sz="285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01599" y="1353979"/>
              <a:ext cx="1073986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dirty="0">
                  <a:solidFill>
                    <a:schemeClr val="accent6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Build a reproducible Tennessee pilot that documents quality, maps context, and prepares future work.</a:t>
              </a:r>
              <a:endParaRPr lang="en-US" sz="1580" dirty="0">
                <a:solidFill>
                  <a:schemeClr val="accent6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09600" y="2324100"/>
            <a:ext cx="10972800" cy="2647950"/>
            <a:chOff x="609600" y="2324100"/>
            <a:chExt cx="10972800" cy="2647950"/>
          </a:xfrm>
        </p:grpSpPr>
        <p:sp>
          <p:nvSpPr>
            <p:cNvPr id="6" name="Rectangle 6"/>
            <p:cNvSpPr/>
            <p:nvPr/>
          </p:nvSpPr>
          <p:spPr>
            <a:xfrm>
              <a:off x="609600" y="2324100"/>
              <a:ext cx="3333750" cy="2647950"/>
            </a:xfrm>
            <a:prstGeom prst="roundRect">
              <a:avLst>
                <a:gd name="adj" fmla="val 5036"/>
              </a:avLst>
            </a:prstGeom>
            <a:solidFill>
              <a:srgbClr val="FFFFFF"/>
            </a:solidFill>
            <a:ln w="9525">
              <a:solidFill>
                <a:srgbClr val="C9D6DF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4429125" y="2324100"/>
              <a:ext cx="3333750" cy="2647950"/>
            </a:xfrm>
            <a:prstGeom prst="roundRect">
              <a:avLst>
                <a:gd name="adj" fmla="val 5036"/>
              </a:avLst>
            </a:prstGeom>
            <a:solidFill>
              <a:srgbClr val="FFFFFF"/>
            </a:solidFill>
            <a:ln w="9525">
              <a:solidFill>
                <a:srgbClr val="C9D6DF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8248650" y="2324100"/>
              <a:ext cx="3333750" cy="2647950"/>
            </a:xfrm>
            <a:prstGeom prst="roundRect">
              <a:avLst>
                <a:gd name="adj" fmla="val 5036"/>
              </a:avLst>
            </a:prstGeom>
            <a:solidFill>
              <a:srgbClr val="FFFFFF"/>
            </a:solidFill>
            <a:ln w="9525">
              <a:solidFill>
                <a:srgbClr val="C9D6DF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68680" y="2762250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1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01</a:t>
              </a:r>
              <a:endParaRPr lang="en-US" sz="1500" b="1" dirty="0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65251" y="3203734"/>
              <a:ext cx="2573889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80" b="1" dirty="0">
                  <a:solidFill>
                    <a:schemeClr val="dk1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Document quality</a:t>
              </a:r>
              <a:endParaRPr lang="en-US" sz="2180" b="1" dirty="0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68680" y="3676650"/>
              <a:ext cx="259678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accent6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Record identity, sources,</a:t>
              </a:r>
              <a:endParaRPr lang="en-US" sz="1500" dirty="0">
                <a:solidFill>
                  <a:schemeClr val="accent6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68680" y="3952875"/>
              <a:ext cx="29230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accent6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coordinates, and uncertainty</a:t>
              </a:r>
              <a:endParaRPr lang="en-US" sz="1500" dirty="0">
                <a:solidFill>
                  <a:schemeClr val="accent6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688205" y="2762250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1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02</a:t>
              </a:r>
              <a:endParaRPr lang="en-US" sz="1500" b="1" dirty="0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684776" y="3203734"/>
              <a:ext cx="3329620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80" b="1" dirty="0">
                  <a:solidFill>
                    <a:schemeClr val="dk1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Map exposure context</a:t>
              </a:r>
              <a:endParaRPr lang="en-US" sz="2180" b="1" dirty="0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688205" y="3676650"/>
              <a:ext cx="27173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accent6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Facilities, infrastructure,</a:t>
              </a:r>
              <a:endParaRPr lang="en-US" sz="1500" dirty="0">
                <a:solidFill>
                  <a:schemeClr val="accent6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88205" y="3952875"/>
              <a:ext cx="21355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accent6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and nearby receptors</a:t>
              </a:r>
              <a:endParaRPr lang="en-US" sz="1500" dirty="0">
                <a:solidFill>
                  <a:schemeClr val="accent6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507730" y="2762250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1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03</a:t>
              </a:r>
              <a:endParaRPr lang="en-US" sz="1500" b="1" dirty="0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504301" y="3203734"/>
              <a:ext cx="2928307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80" b="1" dirty="0">
                  <a:solidFill>
                    <a:schemeClr val="dk1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Prepare extensions</a:t>
              </a:r>
              <a:endParaRPr lang="en-US" sz="2180" b="1" dirty="0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507730" y="3676650"/>
              <a:ext cx="24854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accent6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Validated case-study and</a:t>
              </a:r>
              <a:endParaRPr lang="en-US" sz="1500" dirty="0">
                <a:solidFill>
                  <a:schemeClr val="accent6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507730" y="3952875"/>
              <a:ext cx="262013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accent6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future research pathways</a:t>
              </a:r>
              <a:endParaRPr lang="en-US" sz="1500" dirty="0">
                <a:solidFill>
                  <a:schemeClr val="accent6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603885" y="6336506"/>
            <a:ext cx="111066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6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RESEARCH NEED</a:t>
            </a:r>
            <a:endParaRPr lang="en-US" sz="1120" dirty="0">
              <a:solidFill>
                <a:schemeClr val="accent6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1233785" y="6336506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6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04</a:t>
            </a:r>
            <a:endParaRPr lang="en-US" sz="1120" dirty="0">
              <a:solidFill>
                <a:schemeClr val="accent6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96646" y="870585"/>
            <a:ext cx="10921391" cy="914972"/>
            <a:chOff x="596646" y="870585"/>
            <a:chExt cx="10921391" cy="914972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870585"/>
              <a:ext cx="33598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spc="225" dirty="0">
                  <a:solidFill>
                    <a:srgbClr val="8FDCDD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EXISTING RESEARCH FOUNDATION</a:t>
              </a:r>
              <a:endParaRPr lang="en-US" sz="1200" spc="225" dirty="0">
                <a:solidFill>
                  <a:srgbClr val="8FDCDD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6646" y="1286828"/>
              <a:ext cx="1092139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The Tennessee workflow starts with a current inventory.</a:t>
              </a:r>
              <a:endParaRPr lang="en-US" sz="2550" b="1" dirty="0">
                <a:solidFill>
                  <a:srgbClr val="FFFFFF"/>
                </a:solidFill>
                <a:latin typeface="+mj-lt"/>
                <a:ea typeface="+mj-ea"/>
                <a:cs typeface="+mj-cs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09600" y="2400300"/>
            <a:ext cx="10972800" cy="2400300"/>
            <a:chOff x="609600" y="2400300"/>
            <a:chExt cx="10972800" cy="2400300"/>
          </a:xfrm>
        </p:grpSpPr>
        <p:sp>
          <p:nvSpPr>
            <p:cNvPr id="5" name="Rectangle 5"/>
            <p:cNvSpPr/>
            <p:nvPr/>
          </p:nvSpPr>
          <p:spPr>
            <a:xfrm>
              <a:off x="609600" y="2400300"/>
              <a:ext cx="3333750" cy="2400300"/>
            </a:xfrm>
            <a:prstGeom prst="roundRect">
              <a:avLst>
                <a:gd name="adj" fmla="val 5556"/>
              </a:avLst>
            </a:prstGeom>
            <a:solidFill>
              <a:srgbClr val="12334B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4429125" y="2400300"/>
              <a:ext cx="3333750" cy="2400300"/>
            </a:xfrm>
            <a:prstGeom prst="roundRect">
              <a:avLst>
                <a:gd name="adj" fmla="val 5556"/>
              </a:avLst>
            </a:prstGeom>
            <a:solidFill>
              <a:srgbClr val="12334B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8248650" y="2400300"/>
              <a:ext cx="3333750" cy="2400300"/>
            </a:xfrm>
            <a:prstGeom prst="roundRect">
              <a:avLst>
                <a:gd name="adj" fmla="val 5556"/>
              </a:avLst>
            </a:prstGeom>
            <a:solidFill>
              <a:srgbClr val="243B5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57250" y="2655570"/>
              <a:ext cx="877725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5400" b="1" dirty="0">
                  <a:solidFill>
                    <a:schemeClr val="accent1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61</a:t>
              </a:r>
              <a:endParaRPr lang="en-US" sz="5400" b="1" dirty="0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66775" y="3512344"/>
              <a:ext cx="2060812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80" b="1" dirty="0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Master records</a:t>
              </a:r>
              <a:endParaRPr lang="en-US" sz="1880" b="1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69442" y="3902392"/>
              <a:ext cx="22854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C9D6DF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50 core / interconnection</a:t>
              </a:r>
              <a:endParaRPr lang="en-US" sz="1350" dirty="0">
                <a:solidFill>
                  <a:srgbClr val="C9D6DF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69442" y="4159568"/>
              <a:ext cx="24217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C9D6DF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+ 11 crypto-mining records</a:t>
              </a:r>
              <a:endParaRPr lang="en-US" sz="1350" dirty="0">
                <a:solidFill>
                  <a:srgbClr val="C9D6DF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676775" y="2655570"/>
              <a:ext cx="877725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5400" b="1" dirty="0">
                  <a:solidFill>
                    <a:schemeClr val="accent2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16</a:t>
              </a:r>
              <a:endParaRPr lang="en-US" sz="5400" b="1" dirty="0">
                <a:solidFill>
                  <a:schemeClr val="accent2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686300" y="3512344"/>
              <a:ext cx="2020157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80" b="1" dirty="0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Candidate sites</a:t>
              </a:r>
              <a:endParaRPr lang="en-US" sz="1880" b="1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688967" y="3902392"/>
              <a:ext cx="22186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C9D6DF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Tracked separately from</a:t>
              </a:r>
              <a:endParaRPr lang="en-US" sz="1350" dirty="0">
                <a:solidFill>
                  <a:srgbClr val="C9D6DF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688967" y="4159568"/>
              <a:ext cx="23550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C9D6DF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confirmed Master records</a:t>
              </a:r>
              <a:endParaRPr lang="en-US" sz="1350" dirty="0">
                <a:solidFill>
                  <a:srgbClr val="C9D6DF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496300" y="2655570"/>
              <a:ext cx="877725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5400" b="1" dirty="0">
                  <a:solidFill>
                    <a:srgbClr val="8FDCDD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13</a:t>
              </a:r>
              <a:endParaRPr lang="en-US" sz="5400" b="1" dirty="0">
                <a:solidFill>
                  <a:srgbClr val="8FDCDD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505825" y="3512344"/>
              <a:ext cx="2658148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80" b="1" dirty="0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Mappable candidates</a:t>
              </a:r>
              <a:endParaRPr lang="en-US" sz="1880" b="1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508492" y="3902392"/>
              <a:ext cx="2400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C9D6DF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Both latitude and longitude</a:t>
              </a:r>
              <a:endParaRPr lang="en-US" sz="1350" dirty="0">
                <a:solidFill>
                  <a:srgbClr val="C9D6DF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508492" y="4159568"/>
              <a:ext cx="18765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C9D6DF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available for mapping</a:t>
              </a:r>
              <a:endParaRPr lang="en-US" sz="1350" dirty="0">
                <a:solidFill>
                  <a:srgbClr val="C9D6DF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602361" y="5465921"/>
            <a:ext cx="861933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C9D6D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Snapshot checked: September 4, 2026. Unknown values remain blank rather than estimated.</a:t>
            </a:r>
            <a:endParaRPr lang="en-US" sz="1420" dirty="0">
              <a:solidFill>
                <a:srgbClr val="C9D6D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603885" y="6336506"/>
            <a:ext cx="232937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8FDCDD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EXISTING RESEARCH FOUNDATION</a:t>
            </a:r>
            <a:endParaRPr lang="en-US" sz="1120" dirty="0">
              <a:solidFill>
                <a:srgbClr val="8FDCDD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1233785" y="6336506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8FDCDD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05</a:t>
            </a:r>
            <a:endParaRPr lang="en-US" sz="1120" dirty="0">
              <a:solidFill>
                <a:srgbClr val="8FDCDD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90550"/>
            <a:ext cx="9299319" cy="1029748"/>
            <a:chOff x="595122" y="590550"/>
            <a:chExt cx="9299319" cy="1029748"/>
          </a:xfrm>
        </p:grpSpPr>
        <p:sp>
          <p:nvSpPr>
            <p:cNvPr id="2" name="Rectangle 2"/>
            <p:cNvSpPr/>
            <p:nvPr/>
          </p:nvSpPr>
          <p:spPr>
            <a:xfrm>
              <a:off x="609600" y="590550"/>
              <a:ext cx="723900" cy="666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5122" y="873442"/>
              <a:ext cx="7421395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8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Tennessee Interactive Facility Map</a:t>
              </a:r>
              <a:endParaRPr lang="en-US" sz="285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02361" y="1341596"/>
              <a:ext cx="92920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chemeClr val="accent6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A live research interface for exploring facility records, filters, sources, and data-quality fields.</a:t>
              </a:r>
              <a:endParaRPr lang="en-US" sz="1420" dirty="0">
                <a:solidFill>
                  <a:schemeClr val="accent6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8858250" y="1952625"/>
            <a:ext cx="2724150" cy="3810000"/>
            <a:chOff x="8858250" y="1952625"/>
            <a:chExt cx="2724150" cy="3810000"/>
          </a:xfrm>
        </p:grpSpPr>
        <p:sp>
          <p:nvSpPr>
            <p:cNvPr id="18" name="Rectangle 18"/>
            <p:cNvSpPr/>
            <p:nvPr/>
          </p:nvSpPr>
          <p:spPr>
            <a:xfrm>
              <a:off x="8858250" y="1952625"/>
              <a:ext cx="2724150" cy="3810000"/>
            </a:xfrm>
            <a:prstGeom prst="roundRect">
              <a:avLst>
                <a:gd name="adj" fmla="val 4196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118854" y="2289810"/>
              <a:ext cx="14331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spc="150" dirty="0">
                  <a:solidFill>
                    <a:srgbClr val="8FDCDD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MAP CONTROLS</a:t>
              </a:r>
              <a:endParaRPr lang="en-US" sz="1200" spc="150" dirty="0">
                <a:solidFill>
                  <a:srgbClr val="8FDCDD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116568" y="2707958"/>
              <a:ext cx="183159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Inspect records</a:t>
              </a:r>
              <a:endParaRPr lang="en-US" sz="1650" b="1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118092" y="3083242"/>
              <a:ext cx="14911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5415" indent="-145415" algn="l">
                <a:buClr>
                  <a:srgbClr val="C9D6DF"/>
                </a:buClr>
                <a:buSzTx/>
                <a:buFontTx/>
                <a:buChar char="•"/>
              </a:pPr>
              <a:r>
                <a:rPr lang="en-US" sz="1350" dirty="0">
                  <a:solidFill>
                    <a:srgbClr val="C9D6DF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Facility details</a:t>
              </a:r>
              <a:endParaRPr lang="en-US" sz="1350" dirty="0">
                <a:solidFill>
                  <a:srgbClr val="C9D6DF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118092" y="3378518"/>
              <a:ext cx="13823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5415" indent="-145415" algn="l">
                <a:buClr>
                  <a:srgbClr val="C9D6DF"/>
                </a:buClr>
                <a:buSzTx/>
                <a:buFontTx/>
                <a:buChar char="•"/>
              </a:pPr>
              <a:r>
                <a:rPr lang="en-US" sz="1350" dirty="0">
                  <a:solidFill>
                    <a:srgbClr val="C9D6DF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Evidence links</a:t>
              </a:r>
              <a:endParaRPr lang="en-US" sz="1350" dirty="0">
                <a:solidFill>
                  <a:srgbClr val="C9D6DF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118092" y="3673792"/>
              <a:ext cx="17735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5415" indent="-145415" algn="l">
                <a:buClr>
                  <a:srgbClr val="C9D6DF"/>
                </a:buClr>
                <a:buSzTx/>
                <a:buFontTx/>
                <a:buChar char="•"/>
              </a:pPr>
              <a:r>
                <a:rPr lang="en-US" sz="1350" dirty="0">
                  <a:solidFill>
                    <a:srgbClr val="C9D6DF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Source confidence</a:t>
              </a:r>
              <a:endParaRPr lang="en-US" sz="1350" dirty="0">
                <a:solidFill>
                  <a:srgbClr val="C9D6DF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118092" y="3969068"/>
              <a:ext cx="14219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5415" indent="-145415" algn="l">
                <a:buClr>
                  <a:srgbClr val="C9D6DF"/>
                </a:buClr>
                <a:buSzTx/>
                <a:buFontTx/>
                <a:buChar char="•"/>
              </a:pPr>
              <a:r>
                <a:rPr lang="en-US" sz="1350" dirty="0">
                  <a:solidFill>
                    <a:srgbClr val="C9D6DF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Coordinate QA</a:t>
              </a:r>
              <a:endParaRPr lang="en-US" sz="1350" dirty="0">
                <a:solidFill>
                  <a:srgbClr val="C9D6DF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118473" y="4462939"/>
              <a:ext cx="23160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accent2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Use the supplied Map folder</a:t>
              </a:r>
              <a:endParaRPr lang="en-US" sz="1280" dirty="0">
                <a:solidFill>
                  <a:schemeClr val="accent2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118473" y="4720114"/>
              <a:ext cx="21227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accent2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for the local HTML demo.</a:t>
              </a:r>
              <a:endParaRPr lang="en-US" sz="1280" dirty="0">
                <a:solidFill>
                  <a:schemeClr val="accent2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603885" y="6336506"/>
            <a:ext cx="232937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6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EXISTING RESEARCH FOUNDATION</a:t>
            </a:r>
            <a:endParaRPr lang="en-US" sz="1120" dirty="0">
              <a:solidFill>
                <a:schemeClr val="accent6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1233785" y="6336506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6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06</a:t>
            </a:r>
            <a:endParaRPr lang="en-US" sz="1120" dirty="0">
              <a:solidFill>
                <a:schemeClr val="accent6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30" name="图片 29" descr="截屏2026-09-04 下午4.02.03">
            <a:hlinkClick r:id="rId1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970" y="2056765"/>
            <a:ext cx="8237220" cy="34975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90550"/>
            <a:ext cx="8381731" cy="1029748"/>
            <a:chOff x="595122" y="590550"/>
            <a:chExt cx="8381731" cy="1029748"/>
          </a:xfrm>
        </p:grpSpPr>
        <p:sp>
          <p:nvSpPr>
            <p:cNvPr id="2" name="Rectangle 2"/>
            <p:cNvSpPr/>
            <p:nvPr/>
          </p:nvSpPr>
          <p:spPr>
            <a:xfrm>
              <a:off x="609600" y="590550"/>
              <a:ext cx="723900" cy="666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5122" y="873442"/>
              <a:ext cx="652800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8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Map Legend and Interpretation</a:t>
              </a:r>
              <a:endParaRPr lang="en-US" sz="285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02361" y="1341596"/>
              <a:ext cx="837449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chemeClr val="accent6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Shape, lifecycle color, candidate styling, and capacity size encode different attributes.</a:t>
              </a:r>
              <a:endParaRPr lang="en-US" sz="1420" dirty="0">
                <a:solidFill>
                  <a:schemeClr val="accent6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01218" y="2041208"/>
            <a:ext cx="3565765" cy="2267426"/>
            <a:chOff x="601218" y="2041208"/>
            <a:chExt cx="3565765" cy="2267426"/>
          </a:xfrm>
        </p:grpSpPr>
        <p:sp>
          <p:nvSpPr>
            <p:cNvPr id="6" name="TextBox 6"/>
            <p:cNvSpPr txBox="1"/>
            <p:nvPr/>
          </p:nvSpPr>
          <p:spPr>
            <a:xfrm>
              <a:off x="601218" y="2041208"/>
              <a:ext cx="155227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dk1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Marker shape</a:t>
              </a:r>
              <a:endParaRPr lang="en-US" sz="1650" b="1" dirty="0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7" name="Ellipse 7"/>
            <p:cNvSpPr/>
            <p:nvPr/>
          </p:nvSpPr>
          <p:spPr>
            <a:xfrm>
              <a:off x="762000" y="2533650"/>
              <a:ext cx="228600" cy="228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36142" y="2568892"/>
              <a:ext cx="17981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6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Circle — Data center</a:t>
              </a:r>
              <a:endParaRPr lang="en-US" sz="1350" dirty="0">
                <a:solidFill>
                  <a:schemeClr val="accent6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762000" y="2990850"/>
              <a:ext cx="228600" cy="228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36142" y="3026092"/>
              <a:ext cx="29602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6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Square — Interconnection facility</a:t>
              </a:r>
              <a:endParaRPr lang="en-US" sz="1350" dirty="0">
                <a:solidFill>
                  <a:schemeClr val="accent6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11" name="Freeform 11"/>
            <p:cNvSpPr/>
            <p:nvPr/>
          </p:nvSpPr>
          <p:spPr>
            <a:xfrm>
              <a:off x="752475" y="3486150"/>
              <a:ext cx="247650" cy="247650"/>
            </a:xfrm>
            <a:custGeom>
              <a:avLst/>
              <a:gdLst/>
              <a:ahLst/>
              <a:cxnLst/>
              <a:rect l="l" t="t" r="r" b="b"/>
              <a:pathLst>
                <a:path w="247650" h="247650">
                  <a:moveTo>
                    <a:pt x="123825" y="0"/>
                  </a:moveTo>
                  <a:lnTo>
                    <a:pt x="247650" y="123825"/>
                  </a:lnTo>
                  <a:lnTo>
                    <a:pt x="123825" y="247650"/>
                  </a:lnTo>
                  <a:lnTo>
                    <a:pt x="0" y="12382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136142" y="3530918"/>
              <a:ext cx="28880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6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Diamond — Crypto-mining facility</a:t>
              </a:r>
              <a:endParaRPr lang="en-US" sz="1350" dirty="0">
                <a:solidFill>
                  <a:schemeClr val="accent6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13" name="Ellipse 13"/>
            <p:cNvSpPr/>
            <p:nvPr/>
          </p:nvSpPr>
          <p:spPr>
            <a:xfrm>
              <a:off x="752475" y="4019550"/>
              <a:ext cx="247650" cy="247650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chemeClr val="accent2"/>
              </a:solidFill>
              <a:custDash>
                <a:ds d="125000" sp="100000"/>
              </a:custDash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137285" y="4088606"/>
              <a:ext cx="30296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accent6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Dashed circle — Candidate, not confirmed</a:t>
              </a:r>
              <a:endParaRPr lang="en-US" sz="1120" dirty="0">
                <a:solidFill>
                  <a:schemeClr val="accent6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725543" y="2041208"/>
            <a:ext cx="2919464" cy="2649093"/>
            <a:chOff x="4725543" y="2041208"/>
            <a:chExt cx="2919464" cy="2649093"/>
          </a:xfrm>
        </p:grpSpPr>
        <p:sp>
          <p:nvSpPr>
            <p:cNvPr id="16" name="TextBox 16"/>
            <p:cNvSpPr txBox="1"/>
            <p:nvPr/>
          </p:nvSpPr>
          <p:spPr>
            <a:xfrm>
              <a:off x="4725543" y="2041208"/>
              <a:ext cx="171451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dk1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Lifecycle color</a:t>
              </a:r>
              <a:endParaRPr lang="en-US" sz="1650" b="1" dirty="0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17" name="Ellipse 17"/>
            <p:cNvSpPr/>
            <p:nvPr/>
          </p:nvSpPr>
          <p:spPr>
            <a:xfrm>
              <a:off x="4848225" y="2543175"/>
              <a:ext cx="209550" cy="209550"/>
            </a:xfrm>
            <a:prstGeom prst="ellipse">
              <a:avLst/>
            </a:prstGeom>
            <a:solidFill>
              <a:srgbClr val="2E9C66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165217" y="2568892"/>
              <a:ext cx="17798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6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Green — Operational</a:t>
              </a:r>
              <a:endParaRPr lang="en-US" sz="1350" dirty="0">
                <a:solidFill>
                  <a:schemeClr val="accent6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19" name="Ellipse 19"/>
            <p:cNvSpPr/>
            <p:nvPr/>
          </p:nvSpPr>
          <p:spPr>
            <a:xfrm>
              <a:off x="4848225" y="2914650"/>
              <a:ext cx="209550" cy="2095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165217" y="2940368"/>
              <a:ext cx="24797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6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Amber — Under construction</a:t>
              </a:r>
              <a:endParaRPr lang="en-US" sz="1350" dirty="0">
                <a:solidFill>
                  <a:schemeClr val="accent6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21" name="Ellipse 21"/>
            <p:cNvSpPr/>
            <p:nvPr/>
          </p:nvSpPr>
          <p:spPr>
            <a:xfrm>
              <a:off x="4848225" y="3286125"/>
              <a:ext cx="209550" cy="209550"/>
            </a:xfrm>
            <a:prstGeom prst="ellipse">
              <a:avLst/>
            </a:prstGeom>
            <a:solidFill>
              <a:srgbClr val="377CC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165217" y="3311842"/>
              <a:ext cx="13896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6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Blue — Proposed</a:t>
              </a:r>
              <a:endParaRPr lang="en-US" sz="1350" dirty="0">
                <a:solidFill>
                  <a:schemeClr val="accent6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23" name="Ellipse 23"/>
            <p:cNvSpPr/>
            <p:nvPr/>
          </p:nvSpPr>
          <p:spPr>
            <a:xfrm>
              <a:off x="4848225" y="3657600"/>
              <a:ext cx="209550" cy="2095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165217" y="3683318"/>
              <a:ext cx="16433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6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Purple — Expanding</a:t>
              </a:r>
              <a:endParaRPr lang="en-US" sz="1350" dirty="0">
                <a:solidFill>
                  <a:schemeClr val="accent6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25" name="Ellipse 25"/>
            <p:cNvSpPr/>
            <p:nvPr/>
          </p:nvSpPr>
          <p:spPr>
            <a:xfrm>
              <a:off x="4848225" y="4029075"/>
              <a:ext cx="209550" cy="209550"/>
            </a:xfrm>
            <a:prstGeom prst="ellipse">
              <a:avLst/>
            </a:prstGeom>
            <a:solidFill>
              <a:srgbClr val="808A9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165217" y="4054792"/>
              <a:ext cx="23616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6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Gray — Cancelled / inactive</a:t>
              </a:r>
              <a:endParaRPr lang="en-US" sz="1350" dirty="0">
                <a:solidFill>
                  <a:schemeClr val="accent6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27" name="Ellipse 27"/>
            <p:cNvSpPr/>
            <p:nvPr/>
          </p:nvSpPr>
          <p:spPr>
            <a:xfrm>
              <a:off x="4848225" y="4400550"/>
              <a:ext cx="209550" cy="209550"/>
            </a:xfrm>
            <a:prstGeom prst="ellipse">
              <a:avLst/>
            </a:prstGeom>
            <a:solidFill>
              <a:srgbClr val="11111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165217" y="4426268"/>
              <a:ext cx="14262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6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Black — Unknown</a:t>
              </a:r>
              <a:endParaRPr lang="en-US" sz="1350" dirty="0">
                <a:solidFill>
                  <a:schemeClr val="accent6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8668893" y="2041208"/>
            <a:ext cx="2210230" cy="1782317"/>
            <a:chOff x="8668893" y="2041208"/>
            <a:chExt cx="2210230" cy="1782317"/>
          </a:xfrm>
        </p:grpSpPr>
        <p:sp>
          <p:nvSpPr>
            <p:cNvPr id="30" name="TextBox 30"/>
            <p:cNvSpPr txBox="1"/>
            <p:nvPr/>
          </p:nvSpPr>
          <p:spPr>
            <a:xfrm>
              <a:off x="8668893" y="2041208"/>
              <a:ext cx="15164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dk1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Capacity size</a:t>
              </a:r>
              <a:endParaRPr lang="en-US" sz="1650" b="1" dirty="0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31" name="Ellipse 31"/>
            <p:cNvSpPr/>
            <p:nvPr/>
          </p:nvSpPr>
          <p:spPr>
            <a:xfrm>
              <a:off x="8972550" y="2762250"/>
              <a:ext cx="190500" cy="190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9477375" y="2695575"/>
              <a:ext cx="323850" cy="3238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10125075" y="2590800"/>
              <a:ext cx="533400" cy="533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698992" y="3302318"/>
              <a:ext cx="20738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6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Larger marker = higher</a:t>
              </a:r>
              <a:endParaRPr lang="en-US" sz="1350" dirty="0">
                <a:solidFill>
                  <a:schemeClr val="accent6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698992" y="3559492"/>
              <a:ext cx="21801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6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published MW (log scale)</a:t>
              </a:r>
              <a:endParaRPr lang="en-US" sz="1350" dirty="0">
                <a:solidFill>
                  <a:schemeClr val="accent6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09600" y="5191125"/>
            <a:ext cx="10972800" cy="742950"/>
            <a:chOff x="609600" y="5191125"/>
            <a:chExt cx="10972800" cy="742950"/>
          </a:xfrm>
        </p:grpSpPr>
        <p:sp>
          <p:nvSpPr>
            <p:cNvPr id="37" name="Rectangle 37"/>
            <p:cNvSpPr/>
            <p:nvPr/>
          </p:nvSpPr>
          <p:spPr>
            <a:xfrm>
              <a:off x="609600" y="5191125"/>
              <a:ext cx="10972800" cy="742950"/>
            </a:xfrm>
            <a:prstGeom prst="roundRect">
              <a:avLst>
                <a:gd name="adj" fmla="val 12821"/>
              </a:avLst>
            </a:prstGeom>
            <a:solidFill>
              <a:srgbClr val="FFF5D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31723" y="5348764"/>
              <a:ext cx="42709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dk1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Missing capacity means not published, not zero.</a:t>
              </a:r>
              <a:endParaRPr lang="en-US" sz="1280" b="1" dirty="0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32104" y="5623560"/>
              <a:ext cx="10251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6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Candidates never contribute to confirmed-facility counts; verify coordinate precision before detailed site-level interpretation.</a:t>
              </a:r>
              <a:endParaRPr lang="en-US" sz="1200" dirty="0">
                <a:solidFill>
                  <a:schemeClr val="accent6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603885" y="6336506"/>
            <a:ext cx="232937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6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EXISTING RESEARCH FOUNDATION</a:t>
            </a:r>
            <a:endParaRPr lang="en-US" sz="1120" dirty="0">
              <a:solidFill>
                <a:schemeClr val="accent6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11233785" y="6336506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6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07</a:t>
            </a:r>
            <a:endParaRPr lang="en-US" sz="1120" dirty="0">
              <a:solidFill>
                <a:schemeClr val="accent6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95884" y="870585"/>
            <a:ext cx="10300772" cy="928116"/>
            <a:chOff x="595884" y="870585"/>
            <a:chExt cx="10300772" cy="928116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870585"/>
              <a:ext cx="185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spc="225" dirty="0">
                  <a:solidFill>
                    <a:srgbClr val="8FDCDD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DATA GOVERNANCE</a:t>
              </a:r>
              <a:endParaRPr lang="en-US" sz="1200" spc="225" dirty="0">
                <a:solidFill>
                  <a:srgbClr val="8FDCDD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884" y="1270635"/>
              <a:ext cx="1030077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Quality controls remain visible from record to map.</a:t>
              </a:r>
              <a:endParaRPr lang="en-US" sz="2700" b="1" dirty="0">
                <a:solidFill>
                  <a:srgbClr val="FFFFFF"/>
                </a:solidFill>
                <a:latin typeface="+mj-lt"/>
                <a:ea typeface="+mj-ea"/>
                <a:cs typeface="+mj-cs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09600" y="2447925"/>
            <a:ext cx="10972800" cy="1924050"/>
            <a:chOff x="609600" y="2447925"/>
            <a:chExt cx="10972800" cy="1924050"/>
          </a:xfrm>
        </p:grpSpPr>
        <p:sp>
          <p:nvSpPr>
            <p:cNvPr id="5" name="Rectangle 5"/>
            <p:cNvSpPr/>
            <p:nvPr/>
          </p:nvSpPr>
          <p:spPr>
            <a:xfrm>
              <a:off x="609600" y="2447925"/>
              <a:ext cx="2095500" cy="1924050"/>
            </a:xfrm>
            <a:prstGeom prst="roundRect">
              <a:avLst>
                <a:gd name="adj" fmla="val 5941"/>
              </a:avLst>
            </a:prstGeom>
            <a:solidFill>
              <a:srgbClr val="12334B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3352800" y="2447925"/>
              <a:ext cx="2095500" cy="1924050"/>
            </a:xfrm>
            <a:prstGeom prst="roundRect">
              <a:avLst>
                <a:gd name="adj" fmla="val 5941"/>
              </a:avLst>
            </a:prstGeom>
            <a:solidFill>
              <a:srgbClr val="12334B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0" y="2447925"/>
              <a:ext cx="2095500" cy="1924050"/>
            </a:xfrm>
            <a:prstGeom prst="roundRect">
              <a:avLst>
                <a:gd name="adj" fmla="val 5941"/>
              </a:avLst>
            </a:prstGeom>
            <a:solidFill>
              <a:srgbClr val="12334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8839200" y="2447925"/>
              <a:ext cx="2743200" cy="1924050"/>
            </a:xfrm>
            <a:prstGeom prst="roundRect">
              <a:avLst>
                <a:gd name="adj" fmla="val 594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2705100" y="3409950"/>
              <a:ext cx="5972175" cy="9525"/>
            </a:xfrm>
            <a:custGeom>
              <a:avLst/>
              <a:gdLst/>
              <a:ahLst/>
              <a:cxnLst/>
              <a:rect l="l" t="t" r="r" b="b"/>
              <a:pathLst>
                <a:path w="5972175" h="9525">
                  <a:moveTo>
                    <a:pt x="0" y="0"/>
                  </a:moveTo>
                  <a:lnTo>
                    <a:pt x="485775" y="0"/>
                  </a:lnTo>
                  <a:moveTo>
                    <a:pt x="2743200" y="0"/>
                  </a:moveTo>
                  <a:lnTo>
                    <a:pt x="3228975" y="0"/>
                  </a:lnTo>
                  <a:moveTo>
                    <a:pt x="5486400" y="0"/>
                  </a:moveTo>
                  <a:lnTo>
                    <a:pt x="5972175" y="0"/>
                  </a:lnTo>
                </a:path>
              </a:pathLst>
            </a:custGeom>
            <a:solidFill>
              <a:srgbClr val="000000"/>
            </a:solidFill>
            <a:ln w="47625">
              <a:solidFill>
                <a:schemeClr val="accent2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6681" y="2853690"/>
              <a:ext cx="15535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Raw records</a:t>
              </a:r>
              <a:endParaRPr lang="en-US" sz="1800" b="1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79348" y="3272314"/>
              <a:ext cx="12157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C9D6DF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Public sources</a:t>
              </a:r>
              <a:endParaRPr lang="en-US" sz="1280" dirty="0">
                <a:solidFill>
                  <a:srgbClr val="C9D6DF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79348" y="3519964"/>
              <a:ext cx="13368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C9D6DF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Operator pages</a:t>
              </a:r>
              <a:endParaRPr lang="en-US" sz="1280" dirty="0">
                <a:solidFill>
                  <a:srgbClr val="C9D6DF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619881" y="2853690"/>
              <a:ext cx="218911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Master inventory</a:t>
              </a:r>
              <a:endParaRPr lang="en-US" sz="1800" b="1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622548" y="3272314"/>
              <a:ext cx="8468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C9D6DF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Stable IDs</a:t>
              </a:r>
              <a:endParaRPr lang="en-US" sz="1280" dirty="0">
                <a:solidFill>
                  <a:srgbClr val="C9D6DF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622548" y="3519964"/>
              <a:ext cx="11205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C9D6DF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Deduplication</a:t>
              </a:r>
              <a:endParaRPr lang="en-US" sz="1280" dirty="0">
                <a:solidFill>
                  <a:srgbClr val="C9D6DF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363081" y="2853690"/>
              <a:ext cx="19342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Candidate layer</a:t>
              </a:r>
              <a:endParaRPr lang="en-US" sz="1800" b="1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65748" y="3272314"/>
              <a:ext cx="13970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C9D6DF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Separate status</a:t>
              </a:r>
              <a:endParaRPr lang="en-US" sz="1280" dirty="0">
                <a:solidFill>
                  <a:srgbClr val="C9D6DF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65748" y="3519964"/>
              <a:ext cx="13451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C9D6DF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Review required</a:t>
              </a:r>
              <a:endParaRPr lang="en-US" sz="1280" dirty="0">
                <a:solidFill>
                  <a:srgbClr val="C9D6DF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106281" y="2853690"/>
              <a:ext cx="16933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071B2E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Research map</a:t>
              </a:r>
              <a:endParaRPr lang="en-US" sz="1800" b="1" dirty="0">
                <a:solidFill>
                  <a:srgbClr val="071B2E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108948" y="3272314"/>
              <a:ext cx="14022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071B2E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Confidence, QA,</a:t>
              </a:r>
              <a:endParaRPr lang="en-US" sz="1280" dirty="0">
                <a:solidFill>
                  <a:srgbClr val="071B2E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108948" y="3519964"/>
              <a:ext cx="15034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071B2E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and evidence links</a:t>
              </a:r>
              <a:endParaRPr lang="en-US" sz="1280" dirty="0">
                <a:solidFill>
                  <a:srgbClr val="071B2E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02361" y="5103971"/>
            <a:ext cx="9025671" cy="640652"/>
            <a:chOff x="602361" y="5103971"/>
            <a:chExt cx="9025671" cy="640652"/>
          </a:xfrm>
        </p:grpSpPr>
        <p:sp>
          <p:nvSpPr>
            <p:cNvPr id="23" name="TextBox 23"/>
            <p:cNvSpPr txBox="1"/>
            <p:nvPr/>
          </p:nvSpPr>
          <p:spPr>
            <a:xfrm>
              <a:off x="602361" y="5103971"/>
              <a:ext cx="151155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C9D6DF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Retained fields:</a:t>
              </a:r>
              <a:endParaRPr lang="en-US" sz="1420" dirty="0">
                <a:solidFill>
                  <a:srgbClr val="C9D6DF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202561" y="5103971"/>
              <a:ext cx="742547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8FDCDD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source links · verification class · confidence · QA state · coordinate precision</a:t>
              </a:r>
              <a:endParaRPr lang="en-US" sz="1420" dirty="0">
                <a:solidFill>
                  <a:srgbClr val="8FDCDD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02361" y="5465921"/>
              <a:ext cx="6609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C9D6DF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Policy:</a:t>
              </a:r>
              <a:endParaRPr lang="en-US" sz="1420" dirty="0">
                <a:solidFill>
                  <a:srgbClr val="C9D6DF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278636" y="5465921"/>
              <a:ext cx="524271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chemeClr val="accent2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unknown values stay blank rather than being estimated.</a:t>
              </a:r>
              <a:endParaRPr lang="en-US" sz="1420" dirty="0">
                <a:solidFill>
                  <a:schemeClr val="accent2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603885" y="6336506"/>
            <a:ext cx="232937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8FDCDD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EXISTING RESEARCH FOUNDATION</a:t>
            </a:r>
            <a:endParaRPr lang="en-US" sz="1120" dirty="0">
              <a:solidFill>
                <a:srgbClr val="8FDCDD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1233785" y="6336506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8FDCDD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08</a:t>
            </a:r>
            <a:endParaRPr lang="en-US" sz="1120" dirty="0">
              <a:solidFill>
                <a:srgbClr val="8FDCDD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90550"/>
            <a:ext cx="7349255" cy="1029748"/>
            <a:chOff x="595122" y="590550"/>
            <a:chExt cx="7349255" cy="1029748"/>
          </a:xfrm>
        </p:grpSpPr>
        <p:sp>
          <p:nvSpPr>
            <p:cNvPr id="2" name="Rectangle 2"/>
            <p:cNvSpPr/>
            <p:nvPr/>
          </p:nvSpPr>
          <p:spPr>
            <a:xfrm>
              <a:off x="609600" y="590550"/>
              <a:ext cx="723900" cy="666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5122" y="873442"/>
              <a:ext cx="5798077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8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Spatial Analysis Framework</a:t>
              </a:r>
              <a:endParaRPr lang="en-US" sz="285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02361" y="1341596"/>
              <a:ext cx="73420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chemeClr val="accent6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A reproducible pathway from canonical sites to validated spatial associations.</a:t>
              </a:r>
              <a:endParaRPr lang="en-US" sz="1420" dirty="0">
                <a:solidFill>
                  <a:schemeClr val="accent6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36879" y="3067050"/>
            <a:ext cx="10579671" cy="1686306"/>
            <a:chOff x="936879" y="3067050"/>
            <a:chExt cx="10579671" cy="1686306"/>
          </a:xfrm>
        </p:grpSpPr>
        <p:sp>
          <p:nvSpPr>
            <p:cNvPr id="6" name="Freeform 6"/>
            <p:cNvSpPr/>
            <p:nvPr/>
          </p:nvSpPr>
          <p:spPr>
            <a:xfrm>
              <a:off x="1428750" y="3524250"/>
              <a:ext cx="9334500" cy="9525"/>
            </a:xfrm>
            <a:custGeom>
              <a:avLst/>
              <a:gdLst/>
              <a:ahLst/>
              <a:cxnLst/>
              <a:rect l="l" t="t" r="r" b="b"/>
              <a:pathLst>
                <a:path w="9334500" h="9525">
                  <a:moveTo>
                    <a:pt x="0" y="0"/>
                  </a:moveTo>
                  <a:lnTo>
                    <a:pt x="93345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rgbClr val="C9D6DF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1162050" y="3067050"/>
              <a:ext cx="914400" cy="914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3448050" y="3067050"/>
              <a:ext cx="914400" cy="914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5734050" y="3067050"/>
              <a:ext cx="914400" cy="914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8020050" y="3067050"/>
              <a:ext cx="914400" cy="914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10306050" y="3067050"/>
              <a:ext cx="914400" cy="914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466469" y="3389948"/>
              <a:ext cx="17141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1</a:t>
              </a:r>
              <a:endParaRPr lang="en-US" sz="1950" b="1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752469" y="3389948"/>
              <a:ext cx="17141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2</a:t>
              </a:r>
              <a:endParaRPr lang="en-US" sz="1950" b="1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038469" y="3389948"/>
              <a:ext cx="17141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3</a:t>
              </a:r>
              <a:endParaRPr lang="en-US" sz="1950" b="1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324469" y="3389948"/>
              <a:ext cx="17141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4</a:t>
              </a:r>
              <a:endParaRPr lang="en-US" sz="1950" b="1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10469" y="3389948"/>
              <a:ext cx="17141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5</a:t>
              </a:r>
              <a:endParaRPr lang="en-US" sz="1950" b="1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77849" y="4192429"/>
              <a:ext cx="164172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dk1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Canonical sites</a:t>
              </a:r>
              <a:endParaRPr lang="en-US" sz="1580" b="1" dirty="0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230499" y="4192429"/>
              <a:ext cx="133746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dk1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D0 / D1 / D2</a:t>
              </a:r>
              <a:endParaRPr lang="en-US" sz="1580" b="1" dirty="0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345049" y="4192429"/>
              <a:ext cx="150818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dk1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Feature table</a:t>
              </a:r>
              <a:endParaRPr lang="en-US" sz="1580" b="1" dirty="0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1524" y="4192429"/>
              <a:ext cx="150818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dk1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Point process</a:t>
              </a:r>
              <a:endParaRPr lang="en-US" sz="1580" b="1" dirty="0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317099" y="4192429"/>
              <a:ext cx="108284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dk1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Validation</a:t>
              </a:r>
              <a:endParaRPr lang="en-US" sz="1580" b="1" dirty="0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36879" y="4518660"/>
              <a:ext cx="145472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6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Resolve duplicates</a:t>
              </a:r>
              <a:endParaRPr lang="en-US" sz="1200" dirty="0">
                <a:solidFill>
                  <a:schemeClr val="accent6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994279" y="4518660"/>
              <a:ext cx="16246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6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Background controls</a:t>
              </a:r>
              <a:endParaRPr lang="en-US" sz="1200" dirty="0">
                <a:solidFill>
                  <a:schemeClr val="accent6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223129" y="4518660"/>
              <a:ext cx="22065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6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Infrastructure + receptors</a:t>
              </a:r>
              <a:endParaRPr lang="en-US" sz="1200" dirty="0">
                <a:solidFill>
                  <a:schemeClr val="accent6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537704" y="4518660"/>
              <a:ext cx="14871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6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Association models</a:t>
              </a:r>
              <a:endParaRPr lang="en-US" sz="1200" dirty="0">
                <a:solidFill>
                  <a:schemeClr val="accent6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061829" y="4518660"/>
              <a:ext cx="145472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6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Sensitivity checks</a:t>
              </a:r>
              <a:endParaRPr lang="en-US" sz="1200" dirty="0">
                <a:solidFill>
                  <a:schemeClr val="accent6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</p:grpSp>
      <p:sp>
        <p:nvSpPr>
          <p:cNvPr id="28" name="Rectangle 28"/>
          <p:cNvSpPr/>
          <p:nvPr/>
        </p:nvSpPr>
        <p:spPr>
          <a:xfrm>
            <a:off x="609600" y="5334000"/>
            <a:ext cx="10972800" cy="581025"/>
          </a:xfrm>
          <a:prstGeom prst="roundRect">
            <a:avLst>
              <a:gd name="adj" fmla="val 16393"/>
            </a:avLst>
          </a:prstGeom>
          <a:solidFill>
            <a:srgbClr val="E3F3F3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830961" y="5542121"/>
            <a:ext cx="1074477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Outcome language: descriptive pattern and spatial association — never causal siting conclusions before validation.</a:t>
            </a:r>
            <a:endParaRPr lang="en-US" sz="1420" dirty="0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603885" y="6336506"/>
            <a:ext cx="138148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6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ANALYTICAL DESIGN</a:t>
            </a:r>
            <a:endParaRPr lang="en-US" sz="1120" dirty="0">
              <a:solidFill>
                <a:schemeClr val="accent6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1233785" y="6336506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6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09</a:t>
            </a:r>
            <a:endParaRPr lang="en-US" sz="1120" dirty="0">
              <a:solidFill>
                <a:schemeClr val="accent6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93598" y="870585"/>
            <a:ext cx="10017772" cy="967550"/>
            <a:chOff x="593598" y="870585"/>
            <a:chExt cx="10017772" cy="967550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870585"/>
              <a:ext cx="22290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spc="225" dirty="0">
                  <a:solidFill>
                    <a:srgbClr val="8FDCDD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RESEARCH QUESTIONS</a:t>
              </a:r>
              <a:endParaRPr lang="en-US" sz="1200" spc="225" dirty="0">
                <a:solidFill>
                  <a:srgbClr val="8FDCDD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1222058"/>
              <a:ext cx="1001777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Three questions keep the analysis bounded.</a:t>
              </a:r>
              <a:endParaRPr lang="en-US" sz="3150" b="1" dirty="0">
                <a:solidFill>
                  <a:srgbClr val="FFFFFF"/>
                </a:solidFill>
                <a:latin typeface="+mj-lt"/>
                <a:ea typeface="+mj-ea"/>
                <a:cs typeface="+mj-cs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09600" y="2352675"/>
            <a:ext cx="10972800" cy="2895600"/>
            <a:chOff x="609600" y="2352675"/>
            <a:chExt cx="10972800" cy="2895600"/>
          </a:xfrm>
        </p:grpSpPr>
        <p:sp>
          <p:nvSpPr>
            <p:cNvPr id="5" name="Rectangle 5"/>
            <p:cNvSpPr/>
            <p:nvPr/>
          </p:nvSpPr>
          <p:spPr>
            <a:xfrm>
              <a:off x="609600" y="2352675"/>
              <a:ext cx="10972800" cy="819150"/>
            </a:xfrm>
            <a:prstGeom prst="roundRect">
              <a:avLst>
                <a:gd name="adj" fmla="val 13953"/>
              </a:avLst>
            </a:prstGeom>
            <a:solidFill>
              <a:srgbClr val="12334B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609600" y="3390900"/>
              <a:ext cx="10972800" cy="819150"/>
            </a:xfrm>
            <a:prstGeom prst="roundRect">
              <a:avLst>
                <a:gd name="adj" fmla="val 13953"/>
              </a:avLst>
            </a:prstGeom>
            <a:solidFill>
              <a:srgbClr val="12334B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4429125"/>
              <a:ext cx="10972800" cy="819150"/>
            </a:xfrm>
            <a:prstGeom prst="roundRect">
              <a:avLst>
                <a:gd name="adj" fmla="val 13953"/>
              </a:avLst>
            </a:prstGeom>
            <a:solidFill>
              <a:srgbClr val="12334B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56107" y="2640330"/>
              <a:ext cx="60156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chemeClr val="accent1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RQ1</a:t>
              </a:r>
              <a:endParaRPr lang="en-US" sz="2100" b="1" dirty="0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943481" y="2672715"/>
              <a:ext cx="53777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Where do confirmed Tennessee sites cluster?</a:t>
              </a:r>
              <a:endParaRPr lang="en-US" sz="1800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56107" y="3678555"/>
              <a:ext cx="60156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chemeClr val="accent1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RQ2</a:t>
              </a:r>
              <a:endParaRPr lang="en-US" sz="2100" b="1" dirty="0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943481" y="3710940"/>
              <a:ext cx="907679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Which infrastructure and receptor contexts are associated after controls?</a:t>
              </a:r>
              <a:endParaRPr lang="en-US" sz="1800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56107" y="4716780"/>
              <a:ext cx="60156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chemeClr val="accent1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RQ3</a:t>
              </a:r>
              <a:endParaRPr lang="en-US" sz="2100" b="1" dirty="0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943481" y="4749165"/>
              <a:ext cx="52124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Which areas merit deeper case-study work?</a:t>
              </a:r>
              <a:endParaRPr lang="en-US" sz="1800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602361" y="5627846"/>
            <a:ext cx="758815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b="1" dirty="0">
                <a:solidFill>
                  <a:schemeClr val="accent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Interpretation boundary: model results describe association, not causation.</a:t>
            </a:r>
            <a:endParaRPr lang="en-US" sz="1420" b="1" dirty="0">
              <a:solidFill>
                <a:schemeClr val="accent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603885" y="6336506"/>
            <a:ext cx="138148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8FDCDD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ANALYTICAL DESIGN</a:t>
            </a:r>
            <a:endParaRPr lang="en-US" sz="1120" dirty="0">
              <a:solidFill>
                <a:srgbClr val="8FDCDD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1233785" y="6336506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8FDCDD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10</a:t>
            </a:r>
            <a:endParaRPr lang="en-US" sz="1120" dirty="0">
              <a:solidFill>
                <a:srgbClr val="8FDCDD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90550"/>
            <a:ext cx="7617294" cy="1029748"/>
            <a:chOff x="595122" y="590550"/>
            <a:chExt cx="7617294" cy="1029748"/>
          </a:xfrm>
        </p:grpSpPr>
        <p:sp>
          <p:nvSpPr>
            <p:cNvPr id="2" name="Rectangle 2"/>
            <p:cNvSpPr/>
            <p:nvPr/>
          </p:nvSpPr>
          <p:spPr>
            <a:xfrm>
              <a:off x="609600" y="590550"/>
              <a:ext cx="723900" cy="666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5122" y="873442"/>
              <a:ext cx="665293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8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Work Packages and Deliverables</a:t>
              </a:r>
              <a:endParaRPr lang="en-US" sz="285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02361" y="1341596"/>
              <a:ext cx="761005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chemeClr val="accent6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Each package leaves a reusable research product rather than a one-off analysis.</a:t>
              </a:r>
              <a:endParaRPr lang="en-US" sz="1420" dirty="0">
                <a:solidFill>
                  <a:schemeClr val="accent6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09600" y="2171700"/>
            <a:ext cx="10972800" cy="3581400"/>
            <a:chOff x="609600" y="2171700"/>
            <a:chExt cx="10972800" cy="3581400"/>
          </a:xfrm>
        </p:grpSpPr>
        <p:sp>
          <p:nvSpPr>
            <p:cNvPr id="6" name="Rectangle 6"/>
            <p:cNvSpPr/>
            <p:nvPr/>
          </p:nvSpPr>
          <p:spPr>
            <a:xfrm>
              <a:off x="609600" y="2171700"/>
              <a:ext cx="10972800" cy="609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59536" y="2408396"/>
              <a:ext cx="133594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Work package</a:t>
              </a:r>
              <a:endParaRPr lang="en-US" sz="1420" b="1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088511" y="2408396"/>
              <a:ext cx="100495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Core work</a:t>
              </a:r>
              <a:endParaRPr lang="en-US" sz="1420" b="1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93811" y="2408396"/>
              <a:ext cx="108376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Deliverable</a:t>
              </a:r>
              <a:endParaRPr lang="en-US" sz="1420" b="1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10" name="Freeform 10"/>
            <p:cNvSpPr/>
            <p:nvPr/>
          </p:nvSpPr>
          <p:spPr>
            <a:xfrm>
              <a:off x="609600" y="2171700"/>
              <a:ext cx="10972800" cy="3581400"/>
            </a:xfrm>
            <a:custGeom>
              <a:avLst/>
              <a:gdLst/>
              <a:ahLst/>
              <a:cxnLst/>
              <a:rect l="l" t="t" r="r" b="b"/>
              <a:pathLst>
                <a:path w="10972800" h="3581400">
                  <a:moveTo>
                    <a:pt x="0" y="609600"/>
                  </a:moveTo>
                  <a:lnTo>
                    <a:pt x="10972800" y="609600"/>
                  </a:lnTo>
                  <a:moveTo>
                    <a:pt x="0" y="1352550"/>
                  </a:moveTo>
                  <a:lnTo>
                    <a:pt x="10972800" y="1352550"/>
                  </a:lnTo>
                  <a:moveTo>
                    <a:pt x="0" y="2095500"/>
                  </a:moveTo>
                  <a:lnTo>
                    <a:pt x="10972800" y="2095500"/>
                  </a:lnTo>
                  <a:moveTo>
                    <a:pt x="0" y="2838450"/>
                  </a:moveTo>
                  <a:lnTo>
                    <a:pt x="10972800" y="2838450"/>
                  </a:lnTo>
                  <a:moveTo>
                    <a:pt x="3200400" y="0"/>
                  </a:moveTo>
                  <a:lnTo>
                    <a:pt x="3200400" y="3581400"/>
                  </a:lnTo>
                  <a:moveTo>
                    <a:pt x="7486650" y="0"/>
                  </a:moveTo>
                  <a:lnTo>
                    <a:pt x="7486650" y="358140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C9D6D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59536" y="3094196"/>
              <a:ext cx="21951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dk1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WP1 · Data foundation</a:t>
              </a:r>
              <a:endParaRPr lang="en-US" sz="1420" b="1" dirty="0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088892" y="3102292"/>
              <a:ext cx="39363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6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Version, deduplicate, and document records</a:t>
              </a:r>
              <a:endParaRPr lang="en-US" sz="1350" dirty="0">
                <a:solidFill>
                  <a:schemeClr val="accent6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394192" y="3102292"/>
              <a:ext cx="17821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Versioned inventory</a:t>
              </a:r>
              <a:endParaRPr lang="en-US" sz="1350" dirty="0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59536" y="3837146"/>
              <a:ext cx="22849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dk1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WP2 · Spatial workflow</a:t>
              </a:r>
              <a:endParaRPr lang="en-US" sz="1420" b="1" dirty="0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088892" y="3845242"/>
              <a:ext cx="34178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6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Build canonical sites and feature table</a:t>
              </a:r>
              <a:endParaRPr lang="en-US" sz="1350" dirty="0">
                <a:solidFill>
                  <a:schemeClr val="accent6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394192" y="3845242"/>
              <a:ext cx="20093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Reproducible workflow</a:t>
              </a:r>
              <a:endParaRPr lang="en-US" sz="1350" dirty="0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59536" y="4580096"/>
              <a:ext cx="15920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dk1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WP3 · Validation</a:t>
              </a:r>
              <a:endParaRPr lang="en-US" sz="1420" b="1" dirty="0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088892" y="4588192"/>
              <a:ext cx="34087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6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Run diagnostics and sensitivity checks</a:t>
              </a:r>
              <a:endParaRPr lang="en-US" sz="1350" dirty="0">
                <a:solidFill>
                  <a:schemeClr val="accent6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394192" y="4588192"/>
              <a:ext cx="15821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Validated outputs</a:t>
              </a:r>
              <a:endParaRPr lang="en-US" sz="1350" dirty="0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59536" y="5323046"/>
              <a:ext cx="186487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dk1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WP4 · Case studies</a:t>
              </a:r>
              <a:endParaRPr lang="en-US" sz="1420" b="1" dirty="0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088892" y="5331142"/>
              <a:ext cx="31633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6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Prioritize places for deeper inquiry</a:t>
              </a:r>
              <a:endParaRPr lang="en-US" sz="1350" dirty="0">
                <a:solidFill>
                  <a:schemeClr val="accent6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394192" y="5331142"/>
              <a:ext cx="19188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Case-study materials</a:t>
              </a:r>
              <a:endParaRPr lang="en-US" sz="1350" dirty="0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603885" y="6336506"/>
            <a:ext cx="138148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6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ANALYTICAL DESIGN</a:t>
            </a:r>
            <a:endParaRPr lang="en-US" sz="1120" dirty="0">
              <a:solidFill>
                <a:schemeClr val="accent6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1233785" y="6336506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6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11</a:t>
            </a:r>
            <a:endParaRPr lang="en-US" sz="1120" dirty="0">
              <a:solidFill>
                <a:schemeClr val="accent6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90550"/>
            <a:ext cx="7559706" cy="1029748"/>
            <a:chOff x="595122" y="590550"/>
            <a:chExt cx="7559706" cy="1029748"/>
          </a:xfrm>
        </p:grpSpPr>
        <p:sp>
          <p:nvSpPr>
            <p:cNvPr id="2" name="Rectangle 2"/>
            <p:cNvSpPr/>
            <p:nvPr/>
          </p:nvSpPr>
          <p:spPr>
            <a:xfrm>
              <a:off x="609600" y="590550"/>
              <a:ext cx="723900" cy="666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5122" y="873442"/>
              <a:ext cx="628810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8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Quality Gates and Limitations</a:t>
              </a:r>
              <a:endParaRPr lang="en-US" sz="285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02361" y="1341596"/>
              <a:ext cx="75524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chemeClr val="accent6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Data quality determines the level of inference the project can responsibly make.</a:t>
              </a:r>
              <a:endParaRPr lang="en-US" sz="1420" dirty="0">
                <a:solidFill>
                  <a:schemeClr val="accent6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09600" y="2324100"/>
            <a:ext cx="11058174" cy="1857375"/>
            <a:chOff x="609600" y="2324100"/>
            <a:chExt cx="11058174" cy="1857375"/>
          </a:xfrm>
        </p:grpSpPr>
        <p:sp>
          <p:nvSpPr>
            <p:cNvPr id="6" name="Rectangle 6"/>
            <p:cNvSpPr/>
            <p:nvPr/>
          </p:nvSpPr>
          <p:spPr>
            <a:xfrm>
              <a:off x="609600" y="2324100"/>
              <a:ext cx="2419350" cy="1857375"/>
            </a:xfrm>
            <a:prstGeom prst="roundRect">
              <a:avLst>
                <a:gd name="adj" fmla="val 7179"/>
              </a:avLst>
            </a:prstGeom>
            <a:solidFill>
              <a:srgbClr val="FFFFFF"/>
            </a:solidFill>
            <a:ln w="9525">
              <a:solidFill>
                <a:srgbClr val="C9D6DF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3352800" y="2324100"/>
              <a:ext cx="2419350" cy="1857375"/>
            </a:xfrm>
            <a:prstGeom prst="roundRect">
              <a:avLst>
                <a:gd name="adj" fmla="val 7179"/>
              </a:avLst>
            </a:prstGeom>
            <a:solidFill>
              <a:srgbClr val="FFFFFF"/>
            </a:solidFill>
            <a:ln w="9525">
              <a:solidFill>
                <a:srgbClr val="C9D6DF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6096000" y="2324100"/>
              <a:ext cx="2419350" cy="1857375"/>
            </a:xfrm>
            <a:prstGeom prst="roundRect">
              <a:avLst>
                <a:gd name="adj" fmla="val 7179"/>
              </a:avLst>
            </a:prstGeom>
            <a:solidFill>
              <a:srgbClr val="FFFFFF"/>
            </a:solidFill>
            <a:ln w="9525">
              <a:solidFill>
                <a:srgbClr val="C9D6DF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8839200" y="2324100"/>
              <a:ext cx="2743200" cy="1857375"/>
            </a:xfrm>
            <a:prstGeom prst="roundRect">
              <a:avLst>
                <a:gd name="adj" fmla="val 7179"/>
              </a:avLst>
            </a:prstGeom>
            <a:solidFill>
              <a:srgbClr val="FFFFFF"/>
            </a:solidFill>
            <a:ln w="9525">
              <a:solidFill>
                <a:srgbClr val="C9D6DF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8680" y="2724150"/>
              <a:ext cx="6985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1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GATE 1</a:t>
              </a:r>
              <a:endParaRPr lang="en-US" sz="1500" b="1" dirty="0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67537" y="3090386"/>
              <a:ext cx="1848326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720" b="1" dirty="0">
                  <a:solidFill>
                    <a:schemeClr val="dk1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Record identity</a:t>
              </a:r>
              <a:endParaRPr lang="en-US" sz="1720" b="1" dirty="0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69823" y="3472339"/>
              <a:ext cx="23619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accent6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Duplicate and source checks</a:t>
              </a:r>
              <a:endParaRPr lang="en-US" sz="1280" dirty="0">
                <a:solidFill>
                  <a:schemeClr val="accent6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611880" y="2724150"/>
              <a:ext cx="6985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1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GATE 2</a:t>
              </a:r>
              <a:endParaRPr lang="en-US" sz="1500" b="1" dirty="0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610737" y="3090386"/>
              <a:ext cx="2456006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720" b="1" dirty="0">
                  <a:solidFill>
                    <a:schemeClr val="dk1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Coordinate precision</a:t>
              </a:r>
              <a:endParaRPr lang="en-US" sz="1720" b="1" dirty="0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613023" y="3472339"/>
              <a:ext cx="25685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accent6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Site versus city-level location</a:t>
              </a:r>
              <a:endParaRPr lang="en-US" sz="1280" dirty="0">
                <a:solidFill>
                  <a:schemeClr val="accent6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355080" y="2724150"/>
              <a:ext cx="6985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1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GATE 3</a:t>
              </a:r>
              <a:endParaRPr lang="en-US" sz="1500" b="1" dirty="0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53937" y="3090386"/>
              <a:ext cx="231049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720" b="1" dirty="0">
                  <a:solidFill>
                    <a:schemeClr val="dk1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Covariate coverage</a:t>
              </a:r>
              <a:endParaRPr lang="en-US" sz="1720" b="1" dirty="0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56223" y="3472339"/>
              <a:ext cx="22669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accent6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Context features available</a:t>
              </a:r>
              <a:endParaRPr lang="en-US" sz="1280" dirty="0">
                <a:solidFill>
                  <a:schemeClr val="accent6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098280" y="2724150"/>
              <a:ext cx="6985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1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GATE 4</a:t>
              </a:r>
              <a:endParaRPr lang="en-US" sz="1500" b="1" dirty="0">
                <a:solidFill>
                  <a:schemeClr val="accent1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097137" y="3090386"/>
              <a:ext cx="210358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720" b="1" dirty="0">
                  <a:solidFill>
                    <a:schemeClr val="dk1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Model diagnostics</a:t>
              </a:r>
              <a:endParaRPr lang="en-US" sz="1720" b="1" dirty="0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099423" y="3472339"/>
              <a:ext cx="256835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accent6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Sensitivity and validity checks</a:t>
              </a:r>
              <a:endParaRPr lang="en-US" sz="1280" dirty="0">
                <a:solidFill>
                  <a:schemeClr val="accent6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09600" y="4524375"/>
            <a:ext cx="10972800" cy="1238250"/>
            <a:chOff x="609600" y="4524375"/>
            <a:chExt cx="10972800" cy="1238250"/>
          </a:xfrm>
        </p:grpSpPr>
        <p:sp>
          <p:nvSpPr>
            <p:cNvPr id="23" name="Freeform 23"/>
            <p:cNvSpPr/>
            <p:nvPr/>
          </p:nvSpPr>
          <p:spPr>
            <a:xfrm>
              <a:off x="2533650" y="4524375"/>
              <a:ext cx="7134225" cy="381000"/>
            </a:xfrm>
            <a:custGeom>
              <a:avLst/>
              <a:gdLst/>
              <a:ahLst/>
              <a:cxnLst/>
              <a:rect l="l" t="t" r="r" b="b"/>
              <a:pathLst>
                <a:path w="7134225" h="381000">
                  <a:moveTo>
                    <a:pt x="0" y="0"/>
                  </a:moveTo>
                  <a:lnTo>
                    <a:pt x="0" y="381000"/>
                  </a:lnTo>
                  <a:lnTo>
                    <a:pt x="7134225" y="381000"/>
                  </a:lnTo>
                  <a:lnTo>
                    <a:pt x="7134225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09600" y="5162550"/>
              <a:ext cx="5086350" cy="600075"/>
            </a:xfrm>
            <a:prstGeom prst="roundRect">
              <a:avLst>
                <a:gd name="adj" fmla="val 15873"/>
              </a:avLst>
            </a:prstGeom>
            <a:solidFill>
              <a:srgbClr val="E3F3F3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886450" y="5162550"/>
              <a:ext cx="5695950" cy="600075"/>
            </a:xfrm>
            <a:prstGeom prst="roundRect">
              <a:avLst>
                <a:gd name="adj" fmla="val 15873"/>
              </a:avLst>
            </a:prstGeom>
            <a:solidFill>
              <a:srgbClr val="FFF5D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12292" y="5388292"/>
              <a:ext cx="49049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All gates met → validated spatial association outputs</a:t>
              </a:r>
              <a:endParaRPr lang="en-US" sz="1350" b="1" dirty="0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108192" y="5388292"/>
              <a:ext cx="49050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A gate unmet → descriptive or feasibility output only</a:t>
              </a:r>
              <a:endParaRPr lang="en-US" sz="1350" b="1" dirty="0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603885" y="6336506"/>
            <a:ext cx="138148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6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ANALYTICAL DESIGN</a:t>
            </a:r>
            <a:endParaRPr lang="en-US" sz="1120" dirty="0">
              <a:solidFill>
                <a:schemeClr val="accent6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1233785" y="6336506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6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12</a:t>
            </a:r>
            <a:endParaRPr lang="en-US" sz="1120" dirty="0">
              <a:solidFill>
                <a:schemeClr val="accent6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93598" y="870585"/>
            <a:ext cx="10995245" cy="967550"/>
            <a:chOff x="593598" y="870585"/>
            <a:chExt cx="10995245" cy="967550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870585"/>
              <a:ext cx="29416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spc="225" dirty="0">
                  <a:solidFill>
                    <a:srgbClr val="8FDCDD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PROJECT OUTPUTS AND USES</a:t>
              </a:r>
              <a:endParaRPr lang="en-US" sz="1200" spc="225" dirty="0">
                <a:solidFill>
                  <a:srgbClr val="8FDCDD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1222058"/>
              <a:ext cx="1099524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A Tennessee-specific evidence base can travel.</a:t>
              </a:r>
              <a:endParaRPr lang="en-US" sz="3150" b="1" dirty="0">
                <a:solidFill>
                  <a:srgbClr val="FFFFFF"/>
                </a:solidFill>
                <a:latin typeface="+mj-lt"/>
                <a:ea typeface="+mj-ea"/>
                <a:cs typeface="+mj-cs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14400" y="2171700"/>
            <a:ext cx="10486132" cy="3333750"/>
            <a:chOff x="914400" y="2171700"/>
            <a:chExt cx="10486132" cy="3333750"/>
          </a:xfrm>
        </p:grpSpPr>
        <p:sp>
          <p:nvSpPr>
            <p:cNvPr id="5" name="Ellipse 5"/>
            <p:cNvSpPr/>
            <p:nvPr/>
          </p:nvSpPr>
          <p:spPr>
            <a:xfrm>
              <a:off x="5029200" y="2743200"/>
              <a:ext cx="2133600" cy="2133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382006" y="3491865"/>
              <a:ext cx="156552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071B2E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Transparent</a:t>
              </a:r>
              <a:endParaRPr lang="en-US" sz="1800" b="1" dirty="0">
                <a:solidFill>
                  <a:srgbClr val="071B2E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534406" y="3806190"/>
              <a:ext cx="171025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071B2E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evidence base</a:t>
              </a:r>
              <a:endParaRPr lang="en-US" sz="1800" b="1" dirty="0">
                <a:solidFill>
                  <a:srgbClr val="071B2E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8" name="Freeform 8"/>
            <p:cNvSpPr/>
            <p:nvPr/>
          </p:nvSpPr>
          <p:spPr>
            <a:xfrm>
              <a:off x="2733675" y="2733675"/>
              <a:ext cx="6724650" cy="2200275"/>
            </a:xfrm>
            <a:custGeom>
              <a:avLst/>
              <a:gdLst/>
              <a:ahLst/>
              <a:cxnLst/>
              <a:rect l="l" t="t" r="r" b="b"/>
              <a:pathLst>
                <a:path w="6724650" h="2200275">
                  <a:moveTo>
                    <a:pt x="2219325" y="590550"/>
                  </a:moveTo>
                  <a:lnTo>
                    <a:pt x="0" y="0"/>
                  </a:lnTo>
                  <a:moveTo>
                    <a:pt x="2162175" y="1571625"/>
                  </a:moveTo>
                  <a:lnTo>
                    <a:pt x="0" y="2200275"/>
                  </a:lnTo>
                  <a:moveTo>
                    <a:pt x="4505325" y="590550"/>
                  </a:moveTo>
                  <a:lnTo>
                    <a:pt x="6724650" y="0"/>
                  </a:lnTo>
                  <a:moveTo>
                    <a:pt x="4562475" y="1571625"/>
                  </a:moveTo>
                  <a:lnTo>
                    <a:pt x="6724650" y="2200275"/>
                  </a:lnTo>
                </a:path>
              </a:pathLst>
            </a:custGeom>
            <a:solidFill>
              <a:srgbClr val="000000"/>
            </a:solidFill>
            <a:ln w="28575">
              <a:solidFill>
                <a:srgbClr val="8FDCDD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914400" y="2171700"/>
              <a:ext cx="2038350" cy="1123950"/>
            </a:xfrm>
            <a:prstGeom prst="roundRect">
              <a:avLst>
                <a:gd name="adj" fmla="val 10169"/>
              </a:avLst>
            </a:prstGeom>
            <a:solidFill>
              <a:srgbClr val="12334B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914400" y="4381500"/>
              <a:ext cx="2038350" cy="1123950"/>
            </a:xfrm>
            <a:prstGeom prst="roundRect">
              <a:avLst>
                <a:gd name="adj" fmla="val 10169"/>
              </a:avLst>
            </a:prstGeom>
            <a:solidFill>
              <a:srgbClr val="12334B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9239250" y="2171700"/>
              <a:ext cx="2038350" cy="1123950"/>
            </a:xfrm>
            <a:prstGeom prst="roundRect">
              <a:avLst>
                <a:gd name="adj" fmla="val 10169"/>
              </a:avLst>
            </a:prstGeom>
            <a:solidFill>
              <a:srgbClr val="12334B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9239250" y="4381500"/>
              <a:ext cx="2038350" cy="1123950"/>
            </a:xfrm>
            <a:prstGeom prst="roundRect">
              <a:avLst>
                <a:gd name="adj" fmla="val 10169"/>
              </a:avLst>
            </a:prstGeom>
            <a:solidFill>
              <a:srgbClr val="12334B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201293" y="2479358"/>
              <a:ext cx="9915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Planners</a:t>
              </a:r>
              <a:endParaRPr lang="en-US" sz="1650" b="1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203579" y="2832735"/>
              <a:ext cx="13989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C9D6DF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Land-use context</a:t>
              </a:r>
              <a:endParaRPr lang="en-US" sz="1200" dirty="0">
                <a:solidFill>
                  <a:srgbClr val="C9D6DF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201293" y="4689158"/>
              <a:ext cx="141161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Communities</a:t>
              </a:r>
              <a:endParaRPr lang="en-US" sz="1650" b="1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203579" y="5042535"/>
              <a:ext cx="17291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C9D6DF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Visible evidence limits</a:t>
              </a:r>
              <a:endParaRPr lang="en-US" sz="1200" dirty="0">
                <a:solidFill>
                  <a:srgbClr val="C9D6DF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507093" y="2479358"/>
              <a:ext cx="9438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Utilities</a:t>
              </a:r>
              <a:endParaRPr lang="en-US" sz="1650" b="1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509379" y="2832735"/>
              <a:ext cx="18911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C9D6DF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Infrastructure context</a:t>
              </a:r>
              <a:endParaRPr lang="en-US" sz="1200" dirty="0">
                <a:solidFill>
                  <a:srgbClr val="C9D6DF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507093" y="4689158"/>
              <a:ext cx="143506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Researchers</a:t>
              </a:r>
              <a:endParaRPr lang="en-US" sz="1650" b="1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509379" y="5042535"/>
              <a:ext cx="17053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C9D6DF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Reproducible pathway</a:t>
              </a:r>
              <a:endParaRPr lang="en-US" sz="1200" dirty="0">
                <a:solidFill>
                  <a:srgbClr val="C9D6DF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603885" y="6336506"/>
            <a:ext cx="104693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8FDCDD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CONTRIBUTION</a:t>
            </a:r>
            <a:endParaRPr lang="en-US" sz="1120" dirty="0">
              <a:solidFill>
                <a:srgbClr val="8FDCDD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1233785" y="6336506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8FDCDD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13</a:t>
            </a:r>
            <a:endParaRPr lang="en-US" sz="1120" dirty="0">
              <a:solidFill>
                <a:srgbClr val="8FDCDD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609600" y="809625"/>
            <a:ext cx="5998295" cy="4286250"/>
            <a:chOff x="609600" y="809625"/>
            <a:chExt cx="5998295" cy="4286250"/>
          </a:xfrm>
        </p:grpSpPr>
        <p:sp>
          <p:nvSpPr>
            <p:cNvPr id="2" name="Rectangle 2"/>
            <p:cNvSpPr/>
            <p:nvPr/>
          </p:nvSpPr>
          <p:spPr>
            <a:xfrm>
              <a:off x="609600" y="809625"/>
              <a:ext cx="95250" cy="4286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927354" y="1280160"/>
              <a:ext cx="25639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spc="225" dirty="0">
                  <a:solidFill>
                    <a:schemeClr val="accent6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RESEARCH CONTRIBUTION</a:t>
              </a:r>
              <a:endParaRPr lang="en-US" sz="1200" spc="225" dirty="0">
                <a:solidFill>
                  <a:schemeClr val="accent6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17448" y="1850708"/>
              <a:ext cx="569044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A transparent, reusable</a:t>
              </a:r>
              <a:endParaRPr lang="en-US" sz="315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17448" y="2422208"/>
              <a:ext cx="555989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framework for studying</a:t>
              </a:r>
              <a:endParaRPr lang="en-US" sz="315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17448" y="2993708"/>
              <a:ext cx="487773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data centers as local</a:t>
              </a:r>
              <a:endParaRPr lang="en-US" sz="315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17448" y="3565208"/>
              <a:ext cx="379567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infrastructure.</a:t>
              </a:r>
              <a:endParaRPr lang="en-US" sz="315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25068" y="4317682"/>
              <a:ext cx="51007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accent6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Energy · water · land use · community context</a:t>
              </a:r>
              <a:endParaRPr lang="en-US" sz="1650" dirty="0">
                <a:solidFill>
                  <a:schemeClr val="accent6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991350" y="1981200"/>
            <a:ext cx="3790950" cy="3257550"/>
            <a:chOff x="6991350" y="1981200"/>
            <a:chExt cx="3790950" cy="3257550"/>
          </a:xfrm>
        </p:grpSpPr>
        <p:sp>
          <p:nvSpPr>
            <p:cNvPr id="10" name="Ellipse 10"/>
            <p:cNvSpPr/>
            <p:nvPr/>
          </p:nvSpPr>
          <p:spPr>
            <a:xfrm>
              <a:off x="7848600" y="1981200"/>
              <a:ext cx="1409700" cy="1409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9372600" y="3295650"/>
              <a:ext cx="1409700" cy="140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6991350" y="3829050"/>
              <a:ext cx="1409700" cy="140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7829550" y="3133725"/>
              <a:ext cx="1733550" cy="1381125"/>
            </a:xfrm>
            <a:custGeom>
              <a:avLst/>
              <a:gdLst/>
              <a:ahLst/>
              <a:cxnLst/>
              <a:rect l="l" t="t" r="r" b="b"/>
              <a:pathLst>
                <a:path w="1733550" h="1381125">
                  <a:moveTo>
                    <a:pt x="1285875" y="0"/>
                  </a:moveTo>
                  <a:lnTo>
                    <a:pt x="1704975" y="381000"/>
                  </a:lnTo>
                  <a:moveTo>
                    <a:pt x="1733550" y="1209675"/>
                  </a:moveTo>
                  <a:lnTo>
                    <a:pt x="628650" y="1381125"/>
                  </a:lnTo>
                  <a:moveTo>
                    <a:pt x="0" y="781050"/>
                  </a:moveTo>
                  <a:lnTo>
                    <a:pt x="342900" y="123825"/>
                  </a:lnTo>
                </a:path>
              </a:pathLst>
            </a:custGeom>
            <a:solidFill>
              <a:srgbClr val="000000"/>
            </a:solidFill>
            <a:ln w="57150">
              <a:solidFill>
                <a:srgbClr val="071B2E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165211" y="2608421"/>
              <a:ext cx="79349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071B2E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Records</a:t>
              </a:r>
              <a:endParaRPr lang="en-US" sz="1420" b="1" dirty="0">
                <a:solidFill>
                  <a:srgbClr val="071B2E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613011" y="3922871"/>
              <a:ext cx="97328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071B2E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Validation</a:t>
              </a:r>
              <a:endParaRPr lang="en-US" sz="1420" b="1" dirty="0">
                <a:solidFill>
                  <a:srgbClr val="071B2E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298436" y="4456271"/>
              <a:ext cx="113419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FFFFFF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Association</a:t>
              </a:r>
              <a:endParaRPr lang="en-US" sz="1420" b="1" dirty="0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601980" y="5648325"/>
            <a:ext cx="856712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The contribution is not a premature conclusion — it is a defensible pathway to one.</a:t>
            </a:r>
            <a:endParaRPr lang="en-US" sz="1500" b="1" dirty="0">
              <a:solidFill>
                <a:schemeClr val="dk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603885" y="6336506"/>
            <a:ext cx="104693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6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CONTRIBUTION</a:t>
            </a:r>
            <a:endParaRPr lang="en-US" sz="1120" dirty="0">
              <a:solidFill>
                <a:schemeClr val="accent6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1233785" y="6336506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6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14</a:t>
            </a:r>
            <a:endParaRPr lang="en-US" sz="1120" dirty="0">
              <a:solidFill>
                <a:schemeClr val="accent6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tennessee_data_center_infrastructure_research">
  <a:themeElements>
    <a:clrScheme name="tennessee_data_center_infrastructure_research">
      <a:dk1>
        <a:srgbClr val="102A43"/>
      </a:dk1>
      <a:lt1>
        <a:srgbClr val="071B2E"/>
      </a:lt1>
      <a:dk2>
        <a:srgbClr val="1F497D"/>
      </a:dk2>
      <a:lt2>
        <a:srgbClr val="071B2E"/>
      </a:lt2>
      <a:accent1>
        <a:srgbClr val="1FA6A8"/>
      </a:accent1>
      <a:accent2>
        <a:srgbClr val="F2B84B"/>
      </a:accent2>
      <a:accent3>
        <a:srgbClr val="7756B3"/>
      </a:accent3>
      <a:accent4>
        <a:srgbClr val="1FA6A8"/>
      </a:accent4>
      <a:accent5>
        <a:srgbClr val="F5F8FA"/>
      </a:accent5>
      <a:accent6>
        <a:srgbClr val="52616B"/>
      </a:accent6>
      <a:hlink>
        <a:srgbClr val="F2B84B"/>
      </a:hlink>
      <a:folHlink>
        <a:srgbClr val="7756B3"/>
      </a:folHlink>
    </a:clrScheme>
    <a:fontScheme name="tennessee_data_center_infrastructure_research">
      <a:majorFont>
        <a:latin typeface="Georgia"/>
        <a:ea typeface="SimSun"/>
        <a:cs typeface="Georgia"/>
        <a:font script="Jpan" typeface="SimSun"/>
        <a:font script="Hang" typeface="SimSun"/>
        <a:font script="Hans" typeface="SimSun"/>
        <a:font script="Hant" typeface="SimSu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Microsoft YaHei"/>
        <a:cs typeface="Aptos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nnessee_data_center_infrastructure_research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5291</Words>
  <Application>WPS 文字</Application>
  <PresentationFormat>On-screen Show (16:9)</PresentationFormat>
  <Paragraphs>442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30" baseType="lpstr">
      <vt:lpstr>Arial</vt:lpstr>
      <vt:lpstr>宋体</vt:lpstr>
      <vt:lpstr>Wingdings</vt:lpstr>
      <vt:lpstr>Arial</vt:lpstr>
      <vt:lpstr>Aptos</vt:lpstr>
      <vt:lpstr>Helvetica Neue</vt:lpstr>
      <vt:lpstr>Georgia</vt:lpstr>
      <vt:lpstr>微软雅黑</vt:lpstr>
      <vt:lpstr>方正雅意黑 GB18030L2</vt:lpstr>
      <vt:lpstr>宋体</vt:lpstr>
      <vt:lpstr>Arial Unicode MS</vt:lpstr>
      <vt:lpstr>微软雅黑</vt:lpstr>
      <vt:lpstr>Calibri</vt:lpstr>
      <vt:lpstr>汉仪书宋二KW</vt:lpstr>
      <vt:lpstr>宋体</vt:lpstr>
      <vt:lpstr>tennessee_data_center_infrastructure_research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Chris</cp:lastModifiedBy>
  <cp:revision>2</cp:revision>
  <dcterms:created xsi:type="dcterms:W3CDTF">2026-09-04T20:05:10Z</dcterms:created>
  <dcterms:modified xsi:type="dcterms:W3CDTF">2026-09-04T20:05:10Z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2052-12.1.26055.26055</vt:lpwstr>
  </property>
  <property fmtid="{D5CDD505-2E9C-101B-9397-08002B2CF9AE}" pid="3" name="ICV">
    <vt:lpwstr>9EB67715F8F4F6C876249B6A2AA49D20_42</vt:lpwstr>
  </property>
</Properties>
</file>